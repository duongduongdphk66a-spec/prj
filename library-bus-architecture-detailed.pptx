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E07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DE971"/>
                </a:solidFill>
                <a:latin typeface="Lora"/>
              </a:defRPr>
            </a:pPr>
            <a:r>
              <a:t>TỦ SÁCH LƯU ĐỘNG (LIBRARY BUS)</a:t>
            </a:r>
          </a:p>
          <a:p>
            <a:pPr algn="ctr">
              <a:defRPr sz="2800">
                <a:solidFill>
                  <a:srgbClr val="FFC270"/>
                </a:solidFill>
                <a:latin typeface="Outfit"/>
              </a:defRPr>
            </a:pPr>
            <a:r>
              <a:t>Kiến Trúc Hệ Thống, UI/UX &amp; Cấu Trúc Template</a:t>
            </a:r>
          </a:p>
          <a:p>
            <a:pPr algn="ctr">
              <a:defRPr sz="2000">
                <a:solidFill>
                  <a:srgbClr val="ED9040"/>
                </a:solidFill>
                <a:latin typeface="Outfit"/>
              </a:defRPr>
            </a:pPr>
            <a:r>
              <a:t>High-Performance Django Modular Monolith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5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DE971"/>
                </a:solidFill>
                <a:latin typeface="Lora"/>
              </a:defRPr>
            </a:pPr>
            <a:r>
              <a:t>Tổng Quan &amp; Mục Tiêu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FFC270"/>
                </a:solidFill>
                <a:latin typeface="Outfit"/>
              </a:defRPr>
            </a:pPr>
            <a:r>
              <a:t>Mục tiêu mở rộng: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Phục vụ 50,000 người dùng đăng ký, xử lý 500 CCU (truy cập đồng thời).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Xử lý hàng nghìn giao dịch mượn/trả sách mỗi ngày.</a:t>
            </a:r>
          </a:p>
          <a:p>
            <a:pPr>
              <a:defRPr sz="2400" b="1">
                <a:solidFill>
                  <a:srgbClr val="FFC270"/>
                </a:solidFill>
                <a:latin typeface="Outfit"/>
              </a:defRPr>
            </a:pPr>
            <a:r>
              <a:t>Công nghệ cốt lõi (Tech Stack):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Backend: Python 3.12, Django 5.2 (High-Performance Modular Monolith).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Database &amp; Cache: MySQL 8.0, Redis 7 (Caching &amp; Message Broker).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Background Workers: Celery 5.5 xử lý tác vụ bất đồng bộ.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Frontend: HTML5, CSS3, JS thuần, GSAP Animations (60FPS).</a:t>
            </a:r>
          </a:p>
          <a:p>
            <a:pPr>
              <a:defRPr sz="2400" b="1">
                <a:solidFill>
                  <a:srgbClr val="FFC270"/>
                </a:solidFill>
                <a:latin typeface="Outfit"/>
              </a:defRPr>
            </a:pPr>
            <a:r>
              <a:t>Kiến trúc Module hóa (Modular Monolith):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Chia cắt domain logic rõ ràng (7 apps), dễ dàng scale và maintain mà không bị phân mảnh như Microservices.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5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DE971"/>
                </a:solidFill>
                <a:latin typeface="Lora"/>
              </a:defRPr>
            </a:pPr>
            <a:r>
              <a:t>UI/UX - Hệ Thống Thiết Kế (Design System)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645920" cy="1828800"/>
          </a:xfrm>
          <a:prstGeom prst="roundRect">
            <a:avLst/>
          </a:prstGeom>
          <a:solidFill>
            <a:srgbClr val="4E0705"/>
          </a:solidFill>
          <a:ln>
            <a:solidFill>
              <a:srgbClr val="2A05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5F5"/>
                </a:solidFill>
                <a:latin typeface="Outfit"/>
              </a:defRPr>
            </a:pPr>
            <a:r>
              <a:t>Molasses</a:t>
            </a:r>
            <a:br/>
            <a:r>
              <a:t>#4E0705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371600"/>
            <a:ext cx="1645920" cy="1828800"/>
          </a:xfrm>
          <a:prstGeom prst="roundRect">
            <a:avLst/>
          </a:prstGeom>
          <a:solidFill>
            <a:srgbClr val="812203"/>
          </a:solidFill>
          <a:ln>
            <a:solidFill>
              <a:srgbClr val="2A05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5F5"/>
                </a:solidFill>
                <a:latin typeface="Outfit"/>
              </a:defRPr>
            </a:pPr>
            <a:r>
              <a:t>Well-Browned</a:t>
            </a:r>
            <a:br/>
            <a:r>
              <a:t>#812203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1645920" cy="1828800"/>
          </a:xfrm>
          <a:prstGeom prst="roundRect">
            <a:avLst/>
          </a:prstGeom>
          <a:solidFill>
            <a:srgbClr val="BD5705"/>
          </a:solidFill>
          <a:ln>
            <a:solidFill>
              <a:srgbClr val="2A05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5F5"/>
                </a:solidFill>
                <a:latin typeface="Outfit"/>
              </a:defRPr>
            </a:pPr>
            <a:r>
              <a:t>Roast</a:t>
            </a:r>
            <a:br/>
            <a:r>
              <a:t>#BD5705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1645920" cy="1828800"/>
          </a:xfrm>
          <a:prstGeom prst="roundRect">
            <a:avLst/>
          </a:prstGeom>
          <a:solidFill>
            <a:srgbClr val="ED9040"/>
          </a:solidFill>
          <a:ln>
            <a:solidFill>
              <a:srgbClr val="2A05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A0504"/>
                </a:solidFill>
                <a:latin typeface="Outfit"/>
              </a:defRPr>
            </a:pPr>
            <a:r>
              <a:t>Toasty</a:t>
            </a:r>
            <a:br/>
            <a:r>
              <a:t>#ED9040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71600"/>
            <a:ext cx="1645920" cy="1828800"/>
          </a:xfrm>
          <a:prstGeom prst="roundRect">
            <a:avLst/>
          </a:prstGeom>
          <a:solidFill>
            <a:srgbClr val="FFC270"/>
          </a:solidFill>
          <a:ln>
            <a:solidFill>
              <a:srgbClr val="2A05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A0504"/>
                </a:solidFill>
                <a:latin typeface="Outfit"/>
              </a:defRPr>
            </a:pPr>
            <a:r>
              <a:t>Greasey</a:t>
            </a:r>
            <a:br/>
            <a:r>
              <a:t>#FFC270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371600"/>
            <a:ext cx="1645920" cy="1828800"/>
          </a:xfrm>
          <a:prstGeom prst="roundRect">
            <a:avLst/>
          </a:prstGeom>
          <a:solidFill>
            <a:srgbClr val="FDE971"/>
          </a:solidFill>
          <a:ln>
            <a:solidFill>
              <a:srgbClr val="2A05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A0504"/>
                </a:solidFill>
                <a:latin typeface="Outfit"/>
              </a:defRPr>
            </a:pPr>
            <a:r>
              <a:t>Butter</a:t>
            </a:r>
            <a:br/>
            <a:r>
              <a:t>#FDE971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2772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C270"/>
                </a:solidFill>
                <a:latin typeface="Outfit"/>
              </a:defRPr>
            </a:pPr>
            <a:r>
              <a:t>Concept "Neo-Bakery &amp; Classic Library":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Cảm giác cổ điển, ấm cúng của thư viện kết hợp với gam màu bánh nướng.</a:t>
            </a:r>
          </a:p>
          <a:p>
            <a:pPr>
              <a:defRPr sz="2400" b="1">
                <a:solidFill>
                  <a:srgbClr val="FFC270"/>
                </a:solidFill>
                <a:latin typeface="Outfit"/>
              </a:defRPr>
            </a:pPr>
            <a:r>
              <a:t>Nghệ thuật Typography: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Display / Heading: Font 'Lora' (Serif) - Mang tính hàn lâm, văn học, trang trọng.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Body / UI Elements: Font 'Outfit' (Sans-serif) - Hiện đại, dễ đọc trên màn hình kỹ thuật số.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5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DE971"/>
                </a:solidFill>
                <a:latin typeface="Lora"/>
              </a:defRPr>
            </a:pPr>
            <a:r>
              <a:t>UI/UX - Nguyên Tắc Trải Nghiệm &amp; Animation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C270"/>
                </a:solidFill>
                <a:latin typeface="Outfit"/>
              </a:defRPr>
            </a:pPr>
            <a:r>
              <a:t>1. Chuyển động siêu mượt (Micro-animations - 60 FPS):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Sử dụng GSAP (GreenSock) thay vì CSS Transition thuần cho các hoạt ảnh phức tạp.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Các hiệu ứng Hover, Click, Modal popup được tinh chỉnh đường cong gia tốc (easing) tự nhiên.</a:t>
            </a:r>
          </a:p>
          <a:p>
            <a:pPr>
              <a:defRPr sz="2400" b="1">
                <a:solidFill>
                  <a:srgbClr val="FFC270"/>
                </a:solidFill>
                <a:latin typeface="Outfit"/>
              </a:defRPr>
            </a:pPr>
            <a:r>
              <a:t>2. Visual Excellence &amp; Không sử dụng Placeholder: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Mọi giao diện phải cảm giác 'Premium' ngay từ cái nhìn đầu tiên.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Gradient mượt mà (smooth gradient), hiệu ứng kính mờ (Glassmorphism) trên các overlay.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Không dùng hình ảnh xám placeholder; luôn ưu tiên minh họa thực tế hoặc skeleton loading có hiệu ứng shine.</a:t>
            </a:r>
          </a:p>
          <a:p>
            <a:pPr>
              <a:defRPr sz="2400" b="1">
                <a:solidFill>
                  <a:srgbClr val="FFC270"/>
                </a:solidFill>
                <a:latin typeface="Outfit"/>
              </a:defRPr>
            </a:pPr>
            <a:r>
              <a:t>3. Dynamic Interaction (Phản hồi tương tác):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Nút bấm có hiệu ứng lún (haptic-like feedback).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Thông báo (Toast notifications) trượt vào tự nhiên và tự động biến mất.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5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DE971"/>
                </a:solidFill>
                <a:latin typeface="Lora"/>
              </a:defRPr>
            </a:pPr>
            <a:r>
              <a:t>Cấu Trúc Layout &amp; Templates (Django)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C270"/>
                </a:solidFill>
                <a:latin typeface="Outfit"/>
              </a:defRPr>
            </a:pPr>
            <a:r>
              <a:t>Triết lý Kế Thừa (Inheritance):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Tối đa hóa tái sử dụng mã (DRY).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Khung sườn chung được định nghĩa một lần, các trang con chỉ ghi đè block cần thiết.</a:t>
            </a:r>
          </a:p>
          <a:p>
            <a:pPr>
              <a:defRPr sz="2200" b="1">
                <a:solidFill>
                  <a:srgbClr val="ED9040"/>
                </a:solidFill>
                <a:latin typeface="Outfit"/>
              </a:defRPr>
            </a:pPr>
            <a:r>
              <a:t>1. Base Layouts (Thư mục gốc):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base.html: Cấu trúc HTML5 cơ bản, nhúng CSS/JS chung, Meta tags SEO.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dashboard_layout.html: Layout dành riêng cho Admin/Librarian (kế thừa base.html, thêm Sidebar).</a:t>
            </a:r>
          </a:p>
          <a:p>
            <a:pPr>
              <a:defRPr sz="2200" b="1">
                <a:solidFill>
                  <a:srgbClr val="ED9040"/>
                </a:solidFill>
                <a:latin typeface="Outfit"/>
              </a:defRPr>
            </a:pPr>
            <a:r>
              <a:t>2. Các Block Chính: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{% block title %}: Đổi tiêu đề trang.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{% block content %}: Nội dung chính từng trang.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{% block extra_js %}: Scripts riêng biệt của trang đó.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solidFill>
            <a:srgbClr val="1E1E1E"/>
          </a:solidFill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FDE971"/>
                </a:solidFill>
                <a:latin typeface="Consolas"/>
              </a:defRPr>
            </a:pPr>
            <a:r>
              <a:t>templates/</a:t>
            </a:r>
            <a:br/>
            <a:r>
              <a:t> ├── base.html (Root Layout)</a:t>
            </a:r>
            <a:br/>
            <a:r>
              <a:t> ├── _partials/ (Atomic Components)</a:t>
            </a:r>
            <a:br/>
            <a:r>
              <a:t> │    ├── _navbar.html</a:t>
            </a:r>
            <a:br/>
            <a:r>
              <a:t> │    ├── _footer.html</a:t>
            </a:r>
            <a:br/>
            <a:r>
              <a:t> │    ├── _sidebar.html</a:t>
            </a:r>
            <a:br/>
            <a:r>
              <a:t> │    ├── _book_card.html</a:t>
            </a:r>
            <a:br/>
            <a:r>
              <a:t> │    └── _pagination.html</a:t>
            </a:r>
            <a:br/>
            <a:r>
              <a:t> ├── core/</a:t>
            </a:r>
            <a:br/>
            <a:r>
              <a:t> │    └── index.html</a:t>
            </a:r>
            <a:br/>
            <a:r>
              <a:t> ├── users/</a:t>
            </a:r>
            <a:br/>
            <a:r>
              <a:t> │    ├── login.html</a:t>
            </a:r>
            <a:br/>
            <a:r>
              <a:t> │    └── profile.html</a:t>
            </a:r>
            <a:br/>
            <a:r>
              <a:t> └── inventory/</a:t>
            </a:r>
            <a:br/>
            <a:r>
              <a:t>      └── catalog.html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5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DE971"/>
                </a:solidFill>
                <a:latin typeface="Lora"/>
              </a:defRPr>
            </a:pPr>
            <a:r>
              <a:t>Thiết Kế Thành Phần (Atomic Components)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C270"/>
                </a:solidFill>
                <a:latin typeface="Outfit"/>
              </a:defRPr>
            </a:pPr>
            <a:r>
              <a:t>Atomic Design trong Django Templates: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Mọi thành phần UI lặp lại đều được tách thành các file `_partials` (tiền tố dấu gạch dưới).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Sử dụng thẻ {% include '_partials/_tên_file.html' %} để nhúng vào trang chính.</a:t>
            </a:r>
          </a:p>
          <a:p>
            <a:pPr>
              <a:defRPr sz="2200" b="1">
                <a:solidFill>
                  <a:srgbClr val="ED9040"/>
                </a:solidFill>
                <a:latin typeface="Outfit"/>
              </a:defRPr>
            </a:pPr>
            <a:r>
              <a:t>Lợi ích: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Đồng nhất UI/UX: Nút bấm, Card sách chỉ code ở 1 nơi, sửa đổi áp dụng toàn hệ thống.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Giảm kích thước file HTML của các trang lớn.</a:t>
            </a:r>
          </a:p>
          <a:p>
            <a:pPr>
              <a:defRPr sz="2200" b="1">
                <a:solidFill>
                  <a:srgbClr val="ED9040"/>
                </a:solidFill>
                <a:latin typeface="Outfit"/>
              </a:defRPr>
            </a:pPr>
            <a:r>
              <a:t>Các thành phần phổ biến: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_book_card.html: Chứa logic hiển thị ảnh bìa, tên sách, huy hiệu trạng thái (Available/Borrowed).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_toast_messages.html: Xử lý hiển thị thông báo alert (Success, Error, Info) kết hợp với Django Messages framework.</a:t>
            </a:r>
          </a:p>
          <a:p>
            <a:pPr>
              <a:defRPr sz="2000" b="0">
                <a:solidFill>
                  <a:srgbClr val="F5F5F5"/>
                </a:solidFill>
                <a:latin typeface="Outfit"/>
              </a:defRPr>
            </a:pPr>
            <a:r>
              <a:t>- _pagination.html: Thanh phân trang chung, nhận tham số Page object.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5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DE971"/>
                </a:solidFill>
                <a:latin typeface="Lora"/>
              </a:defRPr>
            </a:pPr>
            <a:r>
              <a:t>Kiến Trúc Logic - 7 Phân Hệ Lõi (Django Apps)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097280"/>
          </a:xfrm>
          <a:prstGeom prst="roundRect">
            <a:avLst/>
          </a:prstGeom>
          <a:solidFill>
            <a:srgbClr val="3A0A08"/>
          </a:solidFill>
          <a:ln>
            <a:solidFill>
              <a:srgbClr val="ED9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ED9040"/>
                </a:solidFill>
                <a:latin typeface="Lora"/>
              </a:defRPr>
            </a:pPr>
            <a:r>
              <a:t>1. Core</a:t>
            </a:r>
          </a:p>
          <a:p>
            <a:pPr>
              <a:defRPr sz="1600">
                <a:solidFill>
                  <a:srgbClr val="F5F5F5"/>
                </a:solidFill>
                <a:latin typeface="Outfit"/>
              </a:defRPr>
            </a:pPr>
            <a:r>
              <a:t>Xử lý Landing page, Routing cơ bản, Giao diện lỗi (404, 500).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51760"/>
            <a:ext cx="5486400" cy="1097280"/>
          </a:xfrm>
          <a:prstGeom prst="roundRect">
            <a:avLst/>
          </a:prstGeom>
          <a:solidFill>
            <a:srgbClr val="3A0A08"/>
          </a:solidFill>
          <a:ln>
            <a:solidFill>
              <a:srgbClr val="FFC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FFC270"/>
                </a:solidFill>
                <a:latin typeface="Lora"/>
              </a:defRPr>
            </a:pPr>
            <a:r>
              <a:t>2. Users</a:t>
            </a:r>
          </a:p>
          <a:p>
            <a:pPr>
              <a:defRPr sz="1600">
                <a:solidFill>
                  <a:srgbClr val="F5F5F5"/>
                </a:solidFill>
                <a:latin typeface="Outfit"/>
              </a:defRPr>
            </a:pPr>
            <a:r>
              <a:t>Xác thực Argon2, Quản lý tài khoản, Phân quyền (Reader, Librarian, Admin), Hồ sơ cá nhân.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5486400" cy="1097280"/>
          </a:xfrm>
          <a:prstGeom prst="roundRect">
            <a:avLst/>
          </a:prstGeom>
          <a:solidFill>
            <a:srgbClr val="3A0A08"/>
          </a:solidFill>
          <a:ln>
            <a:solidFill>
              <a:srgbClr val="FDE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FDE971"/>
                </a:solidFill>
                <a:latin typeface="Lora"/>
              </a:defRPr>
            </a:pPr>
            <a:r>
              <a:t>3. Inventory</a:t>
            </a:r>
          </a:p>
          <a:p>
            <a:pPr>
              <a:defRPr sz="1600">
                <a:solidFill>
                  <a:srgbClr val="F5F5F5"/>
                </a:solidFill>
                <a:latin typeface="Outfit"/>
              </a:defRPr>
            </a:pPr>
            <a:r>
              <a:t>Quản lý sách, Thể loại, Tác giả, Kiểm kê kho, Theo dõi trạng thái sách hỏng/mất.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212079"/>
            <a:ext cx="5486400" cy="1097280"/>
          </a:xfrm>
          <a:prstGeom prst="roundRect">
            <a:avLst/>
          </a:prstGeom>
          <a:solidFill>
            <a:srgbClr val="3A0A08"/>
          </a:solidFill>
          <a:ln>
            <a:solidFill>
              <a:srgbClr val="ED9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ED9040"/>
                </a:solidFill>
                <a:latin typeface="Lora"/>
              </a:defRPr>
            </a:pPr>
            <a:r>
              <a:t>4. Transactions</a:t>
            </a:r>
          </a:p>
          <a:p>
            <a:pPr>
              <a:defRPr sz="1600">
                <a:solidFill>
                  <a:srgbClr val="F5F5F5"/>
                </a:solidFill>
                <a:latin typeface="Outfit"/>
              </a:defRPr>
            </a:pPr>
            <a:r>
              <a:t>Xử lý nghiệp vụ Mượn/Trả sách, Tính tiền phạt trễ hạn, Gia hạn sách, Lịch sử mượn.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486400" cy="1097280"/>
          </a:xfrm>
          <a:prstGeom prst="roundRect">
            <a:avLst/>
          </a:prstGeom>
          <a:solidFill>
            <a:srgbClr val="3A0A08"/>
          </a:solidFill>
          <a:ln>
            <a:solidFill>
              <a:srgbClr val="FFC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FFC270"/>
                </a:solidFill>
                <a:latin typeface="Lora"/>
              </a:defRPr>
            </a:pPr>
            <a:r>
              <a:t>5. Analytics</a:t>
            </a:r>
          </a:p>
          <a:p>
            <a:pPr>
              <a:defRPr sz="1600">
                <a:solidFill>
                  <a:srgbClr val="F5F5F5"/>
                </a:solidFill>
                <a:latin typeface="Outfit"/>
              </a:defRPr>
            </a:pPr>
            <a:r>
              <a:t>Tổng hợp số liệu thống kê (Lượt mượn, Sách hot), Dashboard Chart cho thủ thư.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651760"/>
            <a:ext cx="5486400" cy="1097280"/>
          </a:xfrm>
          <a:prstGeom prst="roundRect">
            <a:avLst/>
          </a:prstGeom>
          <a:solidFill>
            <a:srgbClr val="3A0A08"/>
          </a:solidFill>
          <a:ln>
            <a:solidFill>
              <a:srgbClr val="FDE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FDE971"/>
                </a:solidFill>
                <a:latin typeface="Lora"/>
              </a:defRPr>
            </a:pPr>
            <a:r>
              <a:t>6. Notifications</a:t>
            </a:r>
          </a:p>
          <a:p>
            <a:pPr>
              <a:defRPr sz="1600">
                <a:solidFill>
                  <a:srgbClr val="F5F5F5"/>
                </a:solidFill>
                <a:latin typeface="Outfit"/>
              </a:defRPr>
            </a:pPr>
            <a:r>
              <a:t>Gửi thông báo (Email, App) nhắc nhở trả sách, thông báo sách mới, Cảnh báo quá hạn.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931920"/>
            <a:ext cx="5486400" cy="1097280"/>
          </a:xfrm>
          <a:prstGeom prst="roundRect">
            <a:avLst/>
          </a:prstGeom>
          <a:solidFill>
            <a:srgbClr val="3A0A08"/>
          </a:solidFill>
          <a:ln>
            <a:solidFill>
              <a:srgbClr val="ED9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ED9040"/>
                </a:solidFill>
                <a:latin typeface="Lora"/>
              </a:defRPr>
            </a:pPr>
            <a:r>
              <a:t>7. Blog</a:t>
            </a:r>
          </a:p>
          <a:p>
            <a:pPr>
              <a:defRPr sz="1600">
                <a:solidFill>
                  <a:srgbClr val="F5F5F5"/>
                </a:solidFill>
                <a:latin typeface="Outfit"/>
              </a:defRPr>
            </a:pPr>
            <a:r>
              <a:t>Quản lý tin tức, Thông báo sự kiện thư viện, Bài viết review sách.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5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DE971"/>
                </a:solidFill>
                <a:latin typeface="Lora"/>
              </a:defRPr>
            </a:pPr>
            <a:r>
              <a:t>Luồng Dữ Liệu &amp; Request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C270"/>
                </a:solidFill>
                <a:latin typeface="Outfit"/>
              </a:defRPr>
            </a:pPr>
            <a:r>
              <a:t>Luồng xử lý HTTP Request:</a:t>
            </a:r>
          </a:p>
          <a:p>
            <a:pPr>
              <a:defRPr sz="2000" b="1">
                <a:solidFill>
                  <a:srgbClr val="ED9040"/>
                </a:solidFill>
                <a:latin typeface="Outfit"/>
              </a:defRPr>
            </a:pPr>
            <a:r>
              <a:t>1. Nginx Reverse Proxy:</a:t>
            </a:r>
          </a:p>
          <a:p>
            <a:pPr>
              <a:defRPr sz="1800" b="0">
                <a:solidFill>
                  <a:srgbClr val="F5F5F5"/>
                </a:solidFill>
                <a:latin typeface="Outfit"/>
              </a:defRPr>
            </a:pPr>
            <a:r>
              <a:t>   - Chặn SSL, phục vụ tĩnh (Static files / Media files), cân bằng tải.</a:t>
            </a:r>
          </a:p>
          <a:p>
            <a:pPr>
              <a:defRPr sz="2000" b="1">
                <a:solidFill>
                  <a:srgbClr val="ED9040"/>
                </a:solidFill>
                <a:latin typeface="Outfit"/>
              </a:defRPr>
            </a:pPr>
            <a:r>
              <a:t>2. Gunicorn WSGI Server:</a:t>
            </a:r>
          </a:p>
          <a:p>
            <a:pPr>
              <a:defRPr sz="1800" b="0">
                <a:solidFill>
                  <a:srgbClr val="F5F5F5"/>
                </a:solidFill>
                <a:latin typeface="Outfit"/>
              </a:defRPr>
            </a:pPr>
            <a:r>
              <a:t>   - Quản lý các worker processes Python, chuyển tiếp request vào Django.</a:t>
            </a:r>
          </a:p>
          <a:p>
            <a:pPr>
              <a:defRPr sz="2000" b="1">
                <a:solidFill>
                  <a:srgbClr val="ED9040"/>
                </a:solidFill>
                <a:latin typeface="Outfit"/>
              </a:defRPr>
            </a:pPr>
            <a:r>
              <a:t>3. Django Middleware &amp; Router:</a:t>
            </a:r>
          </a:p>
          <a:p>
            <a:pPr>
              <a:defRPr sz="1800" b="0">
                <a:solidFill>
                  <a:srgbClr val="F5F5F5"/>
                </a:solidFill>
                <a:latin typeface="Outfit"/>
              </a:defRPr>
            </a:pPr>
            <a:r>
              <a:t>   - Kiểm tra xác thực (Session), bảo mật (CSRF, XSS), định tuyến URL.</a:t>
            </a:r>
          </a:p>
          <a:p>
            <a:pPr>
              <a:defRPr sz="2000" b="1">
                <a:solidFill>
                  <a:srgbClr val="ED9040"/>
                </a:solidFill>
                <a:latin typeface="Outfit"/>
              </a:defRPr>
            </a:pPr>
            <a:r>
              <a:t>4. Views / Services Layer:</a:t>
            </a:r>
          </a:p>
          <a:p>
            <a:pPr>
              <a:defRPr sz="1800" b="0">
                <a:solidFill>
                  <a:srgbClr val="F5F5F5"/>
                </a:solidFill>
                <a:latin typeface="Outfit"/>
              </a:defRPr>
            </a:pPr>
            <a:r>
              <a:t>   - Controller xử lý logic nghiệp vụ, gọi các class Service để tính toán.</a:t>
            </a:r>
          </a:p>
          <a:p>
            <a:pPr>
              <a:defRPr sz="2000" b="1">
                <a:solidFill>
                  <a:srgbClr val="ED9040"/>
                </a:solidFill>
                <a:latin typeface="Outfit"/>
              </a:defRPr>
            </a:pPr>
            <a:r>
              <a:t>5. ORM &amp; Database (MySQL):</a:t>
            </a:r>
          </a:p>
          <a:p>
            <a:pPr>
              <a:defRPr sz="1800" b="0">
                <a:solidFill>
                  <a:srgbClr val="F5F5F5"/>
                </a:solidFill>
                <a:latin typeface="Outfit"/>
              </a:defRPr>
            </a:pPr>
            <a:r>
              <a:t>   - Truy vấn dữ liệu với QuerySet được tối ưu hóa (select_related, prefetch_related).</a:t>
            </a:r>
          </a:p>
          <a:p>
            <a:pPr>
              <a:defRPr sz="2000" b="1">
                <a:solidFill>
                  <a:srgbClr val="ED9040"/>
                </a:solidFill>
                <a:latin typeface="Outfit"/>
              </a:defRPr>
            </a:pPr>
            <a:r>
              <a:t>6. Celery Task Queue (Redis):</a:t>
            </a:r>
          </a:p>
          <a:p>
            <a:pPr>
              <a:defRPr sz="1800" b="0">
                <a:solidFill>
                  <a:srgbClr val="F5F5F5"/>
                </a:solidFill>
                <a:latin typeface="Outfit"/>
              </a:defRPr>
            </a:pPr>
            <a:r>
              <a:t>   - Đẩy các tác vụ nặng (Gửi Email, Xóa cache) vào hàng đợi để xử lý ngầm.</a:t>
            </a:r>
          </a:p>
          <a:p>
            <a:pPr>
              <a:defRPr sz="2000" b="1">
                <a:solidFill>
                  <a:srgbClr val="ED9040"/>
                </a:solidFill>
                <a:latin typeface="Outfit"/>
              </a:defRPr>
            </a:pPr>
            <a:r>
              <a:t>7. Template Rendering:</a:t>
            </a:r>
          </a:p>
          <a:p>
            <a:pPr>
              <a:defRPr sz="1800" b="0">
                <a:solidFill>
                  <a:srgbClr val="F5F5F5"/>
                </a:solidFill>
                <a:latin typeface="Outfit"/>
              </a:defRPr>
            </a:pPr>
            <a:r>
              <a:t>   - Trả về HTML đã nhúng dữ liệu + Style Neo-Bakery + GSAP JS cho Client.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E07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DE971"/>
                </a:solidFill>
                <a:latin typeface="Lora"/>
              </a:defRPr>
            </a:pPr>
            <a:r>
              <a:t>CẢM ƠN BẠN ĐÃ LẮNG NGHE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