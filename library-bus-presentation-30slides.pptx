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ero_bus.jpg"/>
          <p:cNvPicPr>
            <a:picLocks noChangeAspect="1"/>
          </p:cNvPicPr>
          <p:nvPr/>
        </p:nvPicPr>
        <p:blipFill>
          <a:blip r:embed="rId2"/>
          <a:stretch>
            <a:fillRect/>
          </a:stretch>
        </p:blipFill>
        <p:spPr>
          <a:xfrm>
            <a:off x="731520" y="731520"/>
            <a:ext cx="5303520" cy="3017520"/>
          </a:xfrm>
          <a:prstGeom prst="rect">
            <a:avLst/>
          </a:prstGeom>
        </p:spPr>
      </p:pic>
      <p:sp>
        <p:nvSpPr>
          <p:cNvPr id="4" name="TextBox 3"/>
          <p:cNvSpPr txBox="1"/>
          <p:nvPr/>
        </p:nvSpPr>
        <p:spPr>
          <a:xfrm>
            <a:off x="731520" y="3931920"/>
            <a:ext cx="5486400" cy="2560320"/>
          </a:xfrm>
          <a:prstGeom prst="rect">
            <a:avLst/>
          </a:prstGeom>
          <a:noFill/>
        </p:spPr>
        <p:txBody>
          <a:bodyPr wrap="square">
            <a:spAutoFit/>
          </a:bodyPr>
          <a:lstStyle/>
          <a:p>
            <a:pPr>
              <a:defRPr sz="1000" b="1">
                <a:solidFill>
                  <a:srgbClr val="273272"/>
                </a:solidFill>
              </a:defRPr>
            </a:pPr>
            <a:r>
              <a:t>PROJECT SEMESTER II</a:t>
            </a:r>
          </a:p>
          <a:p>
            <a:pPr>
              <a:defRPr sz="2200" b="1">
                <a:solidFill>
                  <a:srgbClr val="273272"/>
                </a:solidFill>
              </a:defRPr>
            </a:pPr>
            <a:r>
              <a:t>LIBRARY BUS PROJECT</a:t>
            </a:r>
          </a:p>
          <a:p>
            <a:pPr>
              <a:defRPr sz="1200">
                <a:solidFill>
                  <a:srgbClr val="64748B"/>
                </a:solidFill>
              </a:defRPr>
            </a:pPr>
            <a:r>
              <a:t>/Dự án Tủ Sách Lưu Động/</a:t>
            </a:r>
          </a:p>
          <a:p>
            <a:pPr>
              <a:spcBef>
                <a:spcPts val="800"/>
              </a:spcBef>
              <a:defRPr sz="1000">
                <a:solidFill>
                  <a:srgbClr val="0F172A"/>
                </a:solidFill>
              </a:defRPr>
            </a:pPr>
            <a:r>
              <a:t>Cố vấn: Hội đồng Cố vấn Kỹ thuật  |  Đội ngũ: Nhóm Phát triển Hệ thống Django Modular Monolith Core Team</a:t>
            </a:r>
          </a:p>
        </p:txBody>
      </p:sp>
      <p:sp>
        <p:nvSpPr>
          <p:cNvPr id="5" name="TextBox 4"/>
          <p:cNvSpPr txBox="1"/>
          <p:nvPr/>
        </p:nvSpPr>
        <p:spPr>
          <a:xfrm>
            <a:off x="7498079" y="1097280"/>
            <a:ext cx="4114800" cy="4572000"/>
          </a:xfrm>
          <a:prstGeom prst="rect">
            <a:avLst/>
          </a:prstGeom>
          <a:noFill/>
        </p:spPr>
        <p:txBody>
          <a:bodyPr wrap="square">
            <a:spAutoFit/>
          </a:bodyPr>
          <a:lstStyle/>
          <a:p>
            <a:pPr>
              <a:spcAft>
                <a:spcPts val="2000"/>
              </a:spcAft>
              <a:defRPr sz="1800" b="1">
                <a:solidFill>
                  <a:srgbClr val="273272"/>
                </a:solidFill>
              </a:defRPr>
            </a:pPr>
            <a:r>
              <a:t>TABLE OF CONTENTS</a:t>
            </a:r>
          </a:p>
          <a:p>
            <a:pPr>
              <a:spcAft>
                <a:spcPts val="1200"/>
              </a:spcAft>
              <a:defRPr sz="1100">
                <a:solidFill>
                  <a:srgbClr val="0F172A"/>
                </a:solidFill>
              </a:defRPr>
            </a:pPr>
            <a:r>
              <a:t>01  INTRODUCTION AND RESEARCH</a:t>
            </a:r>
            <a:br/>
            <a:r>
              <a:t>     Giới thiệu &amp; Nghiên cứu bối cảnh</a:t>
            </a:r>
          </a:p>
          <a:p>
            <a:pPr>
              <a:spcAft>
                <a:spcPts val="1200"/>
              </a:spcAft>
              <a:defRPr sz="1100">
                <a:solidFill>
                  <a:srgbClr val="0F172A"/>
                </a:solidFill>
              </a:defRPr>
            </a:pPr>
            <a:r>
              <a:t>02  BRANDING AND DESIGN SYSTEM</a:t>
            </a:r>
            <a:br/>
            <a:r>
              <a:t>     Nhận diện &amp; Quy chuẩn thiết kế Neo-Bakery</a:t>
            </a:r>
          </a:p>
          <a:p>
            <a:pPr>
              <a:spcAft>
                <a:spcPts val="1200"/>
              </a:spcAft>
              <a:defRPr sz="1100">
                <a:solidFill>
                  <a:srgbClr val="0F172A"/>
                </a:solidFill>
              </a:defRPr>
            </a:pPr>
            <a:r>
              <a:t>03  ARCHITECTURE &amp; ENGINEERING</a:t>
            </a:r>
            <a:br/>
            <a:r>
              <a:t>     Kiến trúc hệ thống, Dữ liệu &amp; Xử lý nền</a:t>
            </a:r>
          </a:p>
          <a:p>
            <a:pPr>
              <a:spcAft>
                <a:spcPts val="1200"/>
              </a:spcAft>
              <a:defRPr sz="1100">
                <a:solidFill>
                  <a:srgbClr val="0F172A"/>
                </a:solidFill>
              </a:defRPr>
            </a:pPr>
            <a:r>
              <a:t>04  WIREFRAME &amp; VISUAL DESIGN</a:t>
            </a:r>
            <a:br/>
            <a:r>
              <a:t>     So sánh Khung dây &amp; Giao diện thực tế</a:t>
            </a:r>
          </a:p>
          <a:p>
            <a:pPr>
              <a:spcAft>
                <a:spcPts val="1200"/>
              </a:spcAft>
              <a:defRPr sz="1100">
                <a:solidFill>
                  <a:srgbClr val="0F172A"/>
                </a:solidFill>
              </a:defRPr>
            </a:pPr>
            <a:r>
              <a:t>05  TESTING AND DEPLOYMENT</a:t>
            </a:r>
            <a:br/>
            <a:r>
              <a:t>     Kiểm thử tự động &amp; Hạ tầng Docker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73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4572000" cy="3657600"/>
          </a:xfrm>
          <a:prstGeom prst="rect">
            <a:avLst/>
          </a:prstGeom>
          <a:noFill/>
        </p:spPr>
        <p:txBody>
          <a:bodyPr wrap="none">
            <a:spAutoFit/>
          </a:bodyPr>
          <a:lstStyle/>
          <a:p>
            <a:pPr>
              <a:defRPr sz="16000" b="1">
                <a:solidFill>
                  <a:srgbClr val="FFFFFF"/>
                </a:solidFill>
              </a:defRPr>
            </a:pPr>
            <a:r>
              <a:t>01</a:t>
            </a:r>
          </a:p>
        </p:txBody>
      </p:sp>
      <p:sp>
        <p:nvSpPr>
          <p:cNvPr id="4" name="TextBox 3"/>
          <p:cNvSpPr txBox="1"/>
          <p:nvPr/>
        </p:nvSpPr>
        <p:spPr>
          <a:xfrm>
            <a:off x="4114800" y="1371600"/>
            <a:ext cx="7315200" cy="4572000"/>
          </a:xfrm>
          <a:prstGeom prst="rect">
            <a:avLst/>
          </a:prstGeom>
          <a:noFill/>
        </p:spPr>
        <p:txBody>
          <a:bodyPr wrap="square">
            <a:spAutoFit/>
          </a:bodyPr>
          <a:lstStyle/>
          <a:p>
            <a:pPr>
              <a:defRPr sz="3600" b="1">
                <a:solidFill>
                  <a:srgbClr val="FFFFFF"/>
                </a:solidFill>
              </a:defRPr>
            </a:pPr>
            <a:r>
              <a:t>INTRODUCTION</a:t>
            </a:r>
            <a:br/>
            <a:r>
              <a:t>AND RESEARCH</a:t>
            </a:r>
          </a:p>
          <a:p>
            <a:pPr>
              <a:spcAft>
                <a:spcPts val="2400"/>
              </a:spcAft>
              <a:defRPr sz="1600">
                <a:solidFill>
                  <a:srgbClr val="FFFFFF"/>
                </a:solidFill>
              </a:defRPr>
            </a:pPr>
            <a:r>
              <a:t>/Giới thiệu &amp; Nghiên cứu bối cảnh/</a:t>
            </a:r>
          </a:p>
          <a:p>
            <a:pPr>
              <a:spcAft>
                <a:spcPts val="800"/>
              </a:spcAft>
              <a:defRPr sz="1200">
                <a:solidFill>
                  <a:srgbClr val="FFFFFF"/>
                </a:solidFill>
              </a:defRPr>
            </a:pPr>
            <a:r>
              <a:t>1.1  About Project (Về dự án) ......................... 03</a:t>
            </a:r>
          </a:p>
          <a:p>
            <a:pPr>
              <a:spcAft>
                <a:spcPts val="800"/>
              </a:spcAft>
              <a:defRPr sz="1200">
                <a:solidFill>
                  <a:srgbClr val="FFFFFF"/>
                </a:solidFill>
              </a:defRPr>
            </a:pPr>
            <a:r>
              <a:t>1.2  Social Context &amp; Market (Bối cảnh xã hội &amp; Nghiên cứu) ......................... 04</a:t>
            </a:r>
          </a:p>
          <a:p>
            <a:pPr>
              <a:spcAft>
                <a:spcPts val="800"/>
              </a:spcAft>
              <a:defRPr sz="1200">
                <a:solidFill>
                  <a:srgbClr val="FFFFFF"/>
                </a:solidFill>
              </a:defRPr>
            </a:pPr>
            <a:r>
              <a:t>1.3  Target Readers (Độc giả mục tiêu) ......................... 05</a:t>
            </a:r>
          </a:p>
          <a:p>
            <a:pPr>
              <a:spcAft>
                <a:spcPts val="800"/>
              </a:spcAft>
              <a:defRPr sz="1200">
                <a:solidFill>
                  <a:srgbClr val="FFFFFF"/>
                </a:solidFill>
              </a:defRPr>
            </a:pPr>
            <a:r>
              <a:t>1.4  System References (Tham chiếu hệ thống) ......................... 06</a:t>
            </a:r>
          </a:p>
          <a:p>
            <a:pPr>
              <a:spcAft>
                <a:spcPts val="800"/>
              </a:spcAft>
              <a:defRPr sz="1200">
                <a:solidFill>
                  <a:srgbClr val="FFFFFF"/>
                </a:solidFill>
              </a:defRPr>
            </a:pPr>
            <a:r>
              <a:t>1.5  Core Functions (Chức năng cốt lõi) ......................... 07</a:t>
            </a:r>
          </a:p>
          <a:p>
            <a:pPr>
              <a:spcAft>
                <a:spcPts val="800"/>
              </a:spcAft>
              <a:defRPr sz="1200">
                <a:solidFill>
                  <a:srgbClr val="FFFFFF"/>
                </a:solidFill>
              </a:defRPr>
            </a:pPr>
            <a:r>
              <a:t>1.6  Information Architecture (Sơ đồ Sitemap) ......................... 08</a:t>
            </a:r>
          </a:p>
          <a:p>
            <a:pPr>
              <a:spcAft>
                <a:spcPts val="800"/>
              </a:spcAft>
              <a:defRPr sz="1200">
                <a:solidFill>
                  <a:srgbClr val="FFFFFF"/>
                </a:solidFill>
              </a:defRPr>
            </a:pPr>
            <a:r>
              <a:t>1.7  User Flow (Quy trình trải nghiệm mượn trả) ......................... 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INTRODUCTION AND RESEARCH / ABOUT PROJECT</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ABOUT PROJECT</a:t>
            </a:r>
          </a:p>
          <a:p>
            <a:pPr>
              <a:defRPr sz="1100">
                <a:solidFill>
                  <a:srgbClr val="64748B"/>
                </a:solidFill>
              </a:defRPr>
            </a:pPr>
            <a:r>
              <a:t>/Về dự án Tủ Sách Lưu Động/</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Lý do phát triển dự án</a:t>
            </a:r>
          </a:p>
          <a:p>
            <a:pPr>
              <a:defRPr sz="1100">
                <a:solidFill>
                  <a:srgbClr val="0F172A"/>
                </a:solidFill>
              </a:defRPr>
            </a:pPr>
            <a:r>
              <a:t>Tại các vùng nông thôn, ngoại thành và điểm trường xa xôi, trẻ em và người dân gặp nhiều rào cản trong việc tiếp cận các đầu sách mới và không gian thư viện tiêu chuẩn. Dự án Tủ Sách Lưu Động được phát triển nhằm mang tri thức đến tận nơi thông qua đội xe bus chuyên dụng được số hóa hoàn toàn, cung cấp trải nghiệm mượn sách hiện đại, nhanh chóng và thuận tiện nhất.</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Sứ mệnh &amp; Ý nghĩa tên gọi</a:t>
            </a:r>
          </a:p>
          <a:p>
            <a:pPr>
              <a:defRPr sz="1100">
                <a:solidFill>
                  <a:srgbClr val="0F172A"/>
                </a:solidFill>
              </a:defRPr>
            </a:pPr>
            <a:r>
              <a:t>• Sứ mệnh: Thu hẹp khoảng cách văn hóa đọc, trao cơ hội tiếp cận sách miễn phí cho mọi trẻ em, khuyến khích thói quen tự học suốt đời.</a:t>
            </a:r>
            <a:br/>
            <a:r>
              <a:t>• Ý nghĩa: 'Library Bus' — Thư viện không còn là tòa nhà tĩnh mà là những bánh xe lăn bánh mang tri thức di động tới từng nẻo đường, trường học và khu dân cư.</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03                          LIBRARY BUS SYSTEM GUIDELINES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INTRODUCTION AND RESEARCH / RESEARCH</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SOCIAL RESEARCH</a:t>
            </a:r>
          </a:p>
          <a:p>
            <a:pPr>
              <a:defRPr sz="1100">
                <a:solidFill>
                  <a:srgbClr val="64748B"/>
                </a:solidFill>
              </a:defRPr>
            </a:pPr>
            <a:r>
              <a:t>/Nghiên cứu bối cảnh &amp; Nhu cầu/</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Xác định thách thức thực địa</a:t>
            </a:r>
          </a:p>
          <a:p>
            <a:pPr>
              <a:defRPr sz="1100">
                <a:solidFill>
                  <a:srgbClr val="0F172A"/>
                </a:solidFill>
              </a:defRPr>
            </a:pPr>
            <a:r>
              <a:t>• Khoảng cách địa lý: Điểm trường cách xa thư viện tỉnh/huyện từ 15 - 40km, phụ huynh không có thời gian đưa đón con đến thư viện cố định.</a:t>
            </a:r>
            <a:br/>
            <a:r>
              <a:t>• Luân chuyển tài nguyên: Mỗi xe bus chỉ có sức chứa từ 1.000 - 2.500 cuốn sách, đòi hỏi lịch trình luân chuyển sách liên tục giữa các tuyến.</a:t>
            </a:r>
            <a:br/>
            <a:r>
              <a:t>• Hạ tầng mạng chập chờn: Đòi hỏi hệ thống web phản hồi nhẹ, cache tốt, giao dịch mượt mà kể cả khi mạng di động 4G yếu.</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Xu hướng chuyển đổi số thư viện</a:t>
            </a:r>
          </a:p>
          <a:p>
            <a:pPr>
              <a:defRPr sz="1100">
                <a:solidFill>
                  <a:srgbClr val="0F172A"/>
                </a:solidFill>
              </a:defRPr>
            </a:pPr>
            <a:r>
              <a:t>• Thẻ thư viện điện tử: Thay thế thẻ giấy bằng mã QR/Mã số độc giả số hóa, tra cứu lịch sử mượn trên điện thoại.</a:t>
            </a:r>
            <a:br/>
            <a:r>
              <a:t>• Đặt chỗ trực tuyến (Pre-order): Độc giả đặt trước sách qua website, xe bus đến điểm đỗ chỉ cần nhận sách ngay.</a:t>
            </a:r>
            <a:br/>
            <a:r>
              <a:t>• Gamification: Thống kê số sách đã đọc, chuỗi ngày đọc sách (reading streaks) kích thích hứng thú của học sinh.</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04                          LIBRARY BUS SYSTEM GUIDELINES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INTRODUCTION AND RESEARCH / TARGET AUDIENCE</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TARGET READERS</a:t>
            </a:r>
          </a:p>
          <a:p>
            <a:pPr>
              <a:defRPr sz="1100">
                <a:solidFill>
                  <a:srgbClr val="64748B"/>
                </a:solidFill>
              </a:defRPr>
            </a:pPr>
            <a:r>
              <a:t>/Khách hàng &amp; Độc giả mục tiêu/</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Nhân khẩu học &amp; Đặc tính</a:t>
            </a:r>
          </a:p>
          <a:p>
            <a:pPr>
              <a:defRPr sz="1100">
                <a:solidFill>
                  <a:srgbClr val="0F172A"/>
                </a:solidFill>
              </a:defRPr>
            </a:pPr>
            <a:r>
              <a:t>• Độ tuổi phục vụ chính: Học sinh tiểu học, THCS (6 - 15 tuổi) và phụ huynh, giáo viên vùng ven.</a:t>
            </a:r>
            <a:br/>
            <a:r>
              <a:t>• Mức độ tiếp cận công nghệ: Thao tác đơn giản, giao diện trực quan, chữ to rõ ràng, hình ảnh bìa sách nổi bật.</a:t>
            </a:r>
            <a:br/>
            <a:r>
              <a:t>• Vị trí địa lý: Các điểm trường khó khăn, trung tâm văn hóa thôn/xã theo lịch trình xe bus cố định.</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3 Nhóm người dùng trọng tâm</a:t>
            </a:r>
          </a:p>
          <a:p>
            <a:pPr>
              <a:defRPr sz="1100">
                <a:solidFill>
                  <a:srgbClr val="0F172A"/>
                </a:solidFill>
              </a:defRPr>
            </a:pPr>
            <a:r>
              <a:t>1. Độc giả nhỏ tuổi (Readers): Thích sách tranh, truyện thiếu nhi, khoa học thường thức, thích tích điểm thành tích.</a:t>
            </a:r>
            <a:br/>
            <a:r>
              <a:t>2. Phụ huynh &amp; Giáo viên: Theo dõi sách con em đọc, đăng ký mượn sách bổ trợ học tập, nhận thông báo qua email/SMS.</a:t>
            </a:r>
            <a:br/>
            <a:r>
              <a:t>3. Thủ thư lưu động (Librarians): Cần công cụ quét mã, ghi nhận mượn/trả nhanh dưới 5 giây mỗi lượt để phục vụ giờ ra chơi.</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05                          LIBRARY BUS SYSTEM GUIDELINES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INTRODUCTION AND RESEARCH / REFERENCES</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SYSTEM REFERENCES</a:t>
            </a:r>
          </a:p>
          <a:p>
            <a:pPr>
              <a:defRPr sz="1100">
                <a:solidFill>
                  <a:srgbClr val="64748B"/>
                </a:solidFill>
              </a:defRPr>
            </a:pPr>
            <a:r>
              <a:t>/Tham chiếu &amp; Định vị giải pháp/</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Mô hình tham chiếu quốc tế</a:t>
            </a:r>
          </a:p>
          <a:p>
            <a:pPr>
              <a:defRPr sz="1100">
                <a:solidFill>
                  <a:srgbClr val="0F172A"/>
                </a:solidFill>
              </a:defRPr>
            </a:pPr>
            <a:r>
              <a:t>• Bookmobile Systems (Mỹ, Nhật Bản): Áp dụng phương thức phân loại sách theo mã màu và xe chuyên dụng.</a:t>
            </a:r>
            <a:br/>
            <a:r>
              <a:t>• Open Public Access Catalog (OPAC): Cung cấp cổng tra cứu trực tuyến tình trạng sách còn hay đã được mượn.</a:t>
            </a:r>
            <a:br/>
            <a:r>
              <a:t>• Điểm cải tiến của dự án: Tích hợp định vị lộ trình xe bus theo thời gian thực và quản lý đặt chỗ thông minh.</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So sánh với thư viện truyền thống</a:t>
            </a:r>
          </a:p>
          <a:p>
            <a:pPr>
              <a:defRPr sz="1100">
                <a:solidFill>
                  <a:srgbClr val="0F172A"/>
                </a:solidFill>
              </a:defRPr>
            </a:pPr>
            <a:r>
              <a:t>• Thư viện truyền thống: Quản lý cố định, thủ tục giấy tờ thủ công, độc giả phải tự đến.</a:t>
            </a:r>
            <a:br/>
            <a:r>
              <a:t>• Hệ thống Tủ Sách Lưu Động:</a:t>
            </a:r>
            <a:br/>
            <a:r>
              <a:t>  + Xe mang sách đến tận sân trường.</a:t>
            </a:r>
            <a:br/>
            <a:r>
              <a:t>  + Quản lý toàn bộ 235 tệp mã nguồn theo kiến trúc Monolith tinh gọn.</a:t>
            </a:r>
            <a:br/>
            <a:r>
              <a:t>  + Tự động hóa 100% nhắc hạn và thống kê qua Celery Worker.</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06                          LIBRARY BUS SYSTEM GUIDELINES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INTRODUCTION AND RESEARCH / FUNCTIONS</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CORE FUNCTIONS</a:t>
            </a:r>
          </a:p>
          <a:p>
            <a:pPr>
              <a:defRPr sz="1100">
                <a:solidFill>
                  <a:srgbClr val="64748B"/>
                </a:solidFill>
              </a:defRPr>
            </a:pPr>
            <a:r>
              <a:t>/Chức năng trọng tâm của Hệ thống/</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Phân hệ độc giả (Reader Portal)</a:t>
            </a:r>
          </a:p>
          <a:p>
            <a:pPr>
              <a:defRPr sz="1100">
                <a:solidFill>
                  <a:srgbClr val="0F172A"/>
                </a:solidFill>
              </a:defRPr>
            </a:pPr>
            <a:r>
              <a:t>• Tra cứu kho sách: Tìm kiếm theo tên sách, tác giả, thể loại, ISBN với hình ảnh trực quan.</a:t>
            </a:r>
            <a:br/>
            <a:r>
              <a:t>• Xem lịch trình xe bus: Lịch đỗ của từng xe bus trong tuần, điểm đỗ gần nhất và giờ hoạt động.</a:t>
            </a:r>
            <a:br/>
            <a:r>
              <a:t>• Quản lý mượn trả &amp; Đặt trước: Gia hạn sách trực tuyến, xếp hàng chờ sách yêu thích.</a:t>
            </a:r>
            <a:br/>
            <a:r>
              <a:t>• Thông báo &amp; Bảng tin: Nhận tin nhắn nhắc hạn, đọc tin tức hoạt động và sự kiện ngày hội đọc sách.</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Phân hệ thủ thư (Librarian &amp; Admin)</a:t>
            </a:r>
          </a:p>
          <a:p>
            <a:pPr>
              <a:defRPr sz="1100">
                <a:solidFill>
                  <a:srgbClr val="0F172A"/>
                </a:solidFill>
              </a:defRPr>
            </a:pPr>
            <a:r>
              <a:t>• Giao dịch mượn/trả tốc độ cao: Hỗ trợ xác nhận nhanh, kiểm tra trạng thái độc giả và tiền phạt.</a:t>
            </a:r>
            <a:br/>
            <a:r>
              <a:t>• Quản lý lộ trình &amp; Xe bus: Thêm mới tuyến đường, điều chuyển đầu sách giữa các xe.</a:t>
            </a:r>
            <a:br/>
            <a:r>
              <a:t>• Dashboard Thống kê thông minh: Xem biểu đồ sách hot, tỷ lệ trả sách đúng hạn và lưu lượng độc giả theo ngày.</a:t>
            </a:r>
            <a:br/>
            <a:r>
              <a:t>• Báo cáo &amp; Xuất dữ liệu: Xuất danh sách quá hạn, lịch sử kiểm kê.</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07                          LIBRARY BUS SYSTEM GUIDELINES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INTRODUCTION AND RESEARCH / SITEMAP</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SITEMAP</a:t>
            </a:r>
          </a:p>
          <a:p>
            <a:pPr>
              <a:defRPr sz="1100">
                <a:solidFill>
                  <a:srgbClr val="64748B"/>
                </a:solidFill>
              </a:defRPr>
            </a:pPr>
            <a:r>
              <a:t>/Sơ đồ cấu trúc website/</a:t>
            </a:r>
          </a:p>
        </p:txBody>
      </p:sp>
      <p:sp>
        <p:nvSpPr>
          <p:cNvPr id="4" name="Rounded Rectangle 3"/>
          <p:cNvSpPr/>
          <p:nvPr/>
        </p:nvSpPr>
        <p:spPr>
          <a:xfrm>
            <a:off x="731520" y="1645920"/>
            <a:ext cx="106984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023360"/>
          </a:xfrm>
          <a:prstGeom prst="rect">
            <a:avLst/>
          </a:prstGeom>
          <a:noFill/>
        </p:spPr>
        <p:txBody>
          <a:bodyPr wrap="square">
            <a:spAutoFit/>
          </a:bodyPr>
          <a:lstStyle/>
          <a:p>
            <a:pPr>
              <a:spcAft>
                <a:spcPts val="1000"/>
              </a:spcAft>
              <a:defRPr sz="1200" b="1">
                <a:solidFill>
                  <a:srgbClr val="273272"/>
                </a:solidFill>
              </a:defRPr>
            </a:pPr>
            <a:r>
              <a:t>NỘI DUNG CHI TIẾT ĐẶC TẢ:</a:t>
            </a:r>
          </a:p>
          <a:p>
            <a:pPr>
              <a:defRPr sz="1100">
                <a:solidFill>
                  <a:srgbClr val="0F172A"/>
                </a:solidFill>
              </a:defRPr>
            </a:pPr>
            <a:r>
              <a:t>• Trang chủ: Banner tin tức, Sách nổi bật, Lịch trình xe hôm nay, Thống kê cộng đồng</a:t>
            </a:r>
          </a:p>
          <a:p>
            <a:pPr>
              <a:defRPr sz="1100">
                <a:solidFill>
                  <a:srgbClr val="0F172A"/>
                </a:solidFill>
              </a:defRPr>
            </a:pPr>
            <a:r>
              <a:t>• Kho Sách: Danh mục sách, Chi tiết cuốn sách, Tác giả &amp; NXB, Tìm kiếm nâng cao</a:t>
            </a:r>
          </a:p>
          <a:p>
            <a:pPr>
              <a:defRPr sz="1100">
                <a:solidFill>
                  <a:srgbClr val="0F172A"/>
                </a:solidFill>
              </a:defRPr>
            </a:pPr>
            <a:r>
              <a:t>• Tuyến Xe Bus: Danh sách xe bus, Lộ trình &amp; Điểm đỗ, Lịch phục vụ tuần, Bản đồ di chuyển</a:t>
            </a:r>
          </a:p>
          <a:p>
            <a:pPr>
              <a:defRPr sz="1100">
                <a:solidFill>
                  <a:srgbClr val="0F172A"/>
                </a:solidFill>
              </a:defRPr>
            </a:pPr>
            <a:r>
              <a:t>• Giao Dịch: Mượn / Trả sách, Sách đang giữ, Lịch sử giao dịch, Thanh toán phí phạt</a:t>
            </a:r>
          </a:p>
          <a:p>
            <a:pPr>
              <a:defRPr sz="1100">
                <a:solidFill>
                  <a:srgbClr val="0F172A"/>
                </a:solidFill>
              </a:defRPr>
            </a:pPr>
            <a:r>
              <a:t>• Độc Giả: Hồ sơ cá nhân, Thẻ thư viện, Sở thích đọc, Thông báo</a:t>
            </a:r>
          </a:p>
          <a:p>
            <a:pPr>
              <a:defRPr sz="1100">
                <a:solidFill>
                  <a:srgbClr val="0F172A"/>
                </a:solidFill>
              </a:defRPr>
            </a:pPr>
            <a:r>
              <a:t>• Cộng Đồng: Tin tức Blog, Góp ý - Đánh giá, Đăng ký Newsletter, Liên hệ</a:t>
            </a:r>
          </a:p>
        </p:txBody>
      </p:sp>
      <p:sp>
        <p:nvSpPr>
          <p:cNvPr id="6" name="TextBox 5"/>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08                          LIBRARY BUS SYSTEM GUIDELINES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INTRODUCTION AND RESEARCH / USER FLOW</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USER FLOW</a:t>
            </a:r>
          </a:p>
          <a:p>
            <a:pPr>
              <a:defRPr sz="1100">
                <a:solidFill>
                  <a:srgbClr val="64748B"/>
                </a:solidFill>
              </a:defRPr>
            </a:pPr>
            <a:r>
              <a:t>/Sơ đồ quy trình mượn - trả sách/</a:t>
            </a:r>
          </a:p>
        </p:txBody>
      </p:sp>
      <p:sp>
        <p:nvSpPr>
          <p:cNvPr id="4" name="Rounded Rectangle 3"/>
          <p:cNvSpPr/>
          <p:nvPr/>
        </p:nvSpPr>
        <p:spPr>
          <a:xfrm>
            <a:off x="731520" y="1645920"/>
            <a:ext cx="106984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023360"/>
          </a:xfrm>
          <a:prstGeom prst="rect">
            <a:avLst/>
          </a:prstGeom>
          <a:noFill/>
        </p:spPr>
        <p:txBody>
          <a:bodyPr wrap="square">
            <a:spAutoFit/>
          </a:bodyPr>
          <a:lstStyle/>
          <a:p>
            <a:pPr>
              <a:spcAft>
                <a:spcPts val="1000"/>
              </a:spcAft>
              <a:defRPr sz="1200" b="1">
                <a:solidFill>
                  <a:srgbClr val="273272"/>
                </a:solidFill>
              </a:defRPr>
            </a:pPr>
            <a:r>
              <a:t>NỘI DUNG CHI TIẾT ĐẶC TẢ:</a:t>
            </a:r>
          </a:p>
          <a:p>
            <a:pPr>
              <a:defRPr sz="1100">
                <a:solidFill>
                  <a:srgbClr val="0F172A"/>
                </a:solidFill>
              </a:defRPr>
            </a:pPr>
            <a:r>
              <a:t>Bước 1: Trang chủ / Kho sách ➔ Tìm kiếm &amp; chọn sách mong muốn</a:t>
            </a:r>
          </a:p>
          <a:p>
            <a:pPr>
              <a:defRPr sz="1100">
                <a:solidFill>
                  <a:srgbClr val="0F172A"/>
                </a:solidFill>
              </a:defRPr>
            </a:pPr>
            <a:r>
              <a:t>Bước 2: Kiểm tra tồn kho ➔ Sách còn bản sao trên xe bus không?</a:t>
            </a:r>
          </a:p>
          <a:p>
            <a:pPr>
              <a:defRPr sz="1100">
                <a:solidFill>
                  <a:srgbClr val="0F172A"/>
                </a:solidFill>
              </a:defRPr>
            </a:pPr>
            <a:r>
              <a:t>Bước 3: Mượn trực tiếp / Đặt chỗ ➔ Nếu còn: Mượn ngay • Nếu hết: Xếp hàng giữ chỗ</a:t>
            </a:r>
          </a:p>
          <a:p>
            <a:pPr>
              <a:defRPr sz="1100">
                <a:solidFill>
                  <a:srgbClr val="0F172A"/>
                </a:solidFill>
              </a:defRPr>
            </a:pPr>
            <a:r>
              <a:t>Bước 4: Thủ thư duyệt giao dịch ➔ Kiểm tra giới hạn mượn &amp; khóa dòng dữ liệu</a:t>
            </a:r>
          </a:p>
          <a:p>
            <a:pPr>
              <a:defRPr sz="1100">
                <a:solidFill>
                  <a:srgbClr val="0F172A"/>
                </a:solidFill>
              </a:defRPr>
            </a:pPr>
            <a:r>
              <a:t>Bước 5: Tạo BorrowRecord ➔ Cập nhật ngày hẹn trả &amp; gửi thông báo vào hệ thống</a:t>
            </a:r>
          </a:p>
          <a:p>
            <a:pPr>
              <a:defRPr sz="1100">
                <a:solidFill>
                  <a:srgbClr val="0F172A"/>
                </a:solidFill>
              </a:defRPr>
            </a:pPr>
            <a:r>
              <a:t>Bước 6: Đến hạn / Trả sách ➔ Độc giả trả sách đúng hạn hoặc hệ thống tính phí phạt</a:t>
            </a:r>
          </a:p>
        </p:txBody>
      </p:sp>
      <p:sp>
        <p:nvSpPr>
          <p:cNvPr id="6" name="TextBox 5"/>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09                          LIBRARY BUS SYSTEM GUIDELINES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4572000" cy="3657600"/>
          </a:xfrm>
          <a:prstGeom prst="rect">
            <a:avLst/>
          </a:prstGeom>
          <a:noFill/>
        </p:spPr>
        <p:txBody>
          <a:bodyPr wrap="none">
            <a:spAutoFit/>
          </a:bodyPr>
          <a:lstStyle/>
          <a:p>
            <a:pPr>
              <a:defRPr sz="16000" b="1">
                <a:solidFill>
                  <a:srgbClr val="FFFFFF"/>
                </a:solidFill>
              </a:defRPr>
            </a:pPr>
            <a:r>
              <a:t>02</a:t>
            </a:r>
          </a:p>
        </p:txBody>
      </p:sp>
      <p:sp>
        <p:nvSpPr>
          <p:cNvPr id="4" name="TextBox 3"/>
          <p:cNvSpPr txBox="1"/>
          <p:nvPr/>
        </p:nvSpPr>
        <p:spPr>
          <a:xfrm>
            <a:off x="4114800" y="1371600"/>
            <a:ext cx="7315200" cy="4572000"/>
          </a:xfrm>
          <a:prstGeom prst="rect">
            <a:avLst/>
          </a:prstGeom>
          <a:noFill/>
        </p:spPr>
        <p:txBody>
          <a:bodyPr wrap="square">
            <a:spAutoFit/>
          </a:bodyPr>
          <a:lstStyle/>
          <a:p>
            <a:pPr>
              <a:defRPr sz="3600" b="1">
                <a:solidFill>
                  <a:srgbClr val="FFFFFF"/>
                </a:solidFill>
              </a:defRPr>
            </a:pPr>
            <a:r>
              <a:t>BRANDING AND</a:t>
            </a:r>
            <a:br/>
            <a:r>
              <a:t>DESIGN SYSTEM</a:t>
            </a:r>
          </a:p>
          <a:p>
            <a:pPr>
              <a:spcAft>
                <a:spcPts val="2400"/>
              </a:spcAft>
              <a:defRPr sz="1600">
                <a:solidFill>
                  <a:srgbClr val="FFFFFF"/>
                </a:solidFill>
              </a:defRPr>
            </a:pPr>
            <a:r>
              <a:t>/Nhận diện &amp; Quy chuẩn thiết kế Neo-Bakery/</a:t>
            </a:r>
          </a:p>
          <a:p>
            <a:pPr>
              <a:spcAft>
                <a:spcPts val="800"/>
              </a:spcAft>
              <a:defRPr sz="1200">
                <a:solidFill>
                  <a:srgbClr val="FFFFFF"/>
                </a:solidFill>
              </a:defRPr>
            </a:pPr>
            <a:r>
              <a:t>2.1  Logo Concept &amp; Meaning (Ý nghĩa biểu trưng) ......................... 11</a:t>
            </a:r>
          </a:p>
          <a:p>
            <a:pPr>
              <a:spcAft>
                <a:spcPts val="800"/>
              </a:spcAft>
              <a:defRPr sz="1200">
                <a:solidFill>
                  <a:srgbClr val="FFFFFF"/>
                </a:solidFill>
              </a:defRPr>
            </a:pPr>
            <a:r>
              <a:t>2.2  Logo Grid &amp; Safe Distance (Tỷ lệ lưới &amp; Khoảng cách an toàn) ......................... 12</a:t>
            </a:r>
          </a:p>
          <a:p>
            <a:pPr>
              <a:spcAft>
                <a:spcPts val="800"/>
              </a:spcAft>
              <a:defRPr sz="1200">
                <a:solidFill>
                  <a:srgbClr val="FFFFFF"/>
                </a:solidFill>
              </a:defRPr>
            </a:pPr>
            <a:r>
              <a:t>2.3  Color Palette (Bảng màu 6 tông Neo-Bakery) ......................... 13</a:t>
            </a:r>
          </a:p>
          <a:p>
            <a:pPr>
              <a:spcAft>
                <a:spcPts val="800"/>
              </a:spcAft>
              <a:defRPr sz="1200">
                <a:solidFill>
                  <a:srgbClr val="FFFFFF"/>
                </a:solidFill>
              </a:defRPr>
            </a:pPr>
            <a:r>
              <a:t>2.4  Typography System (Hệ thống phông chữ &amp; Thang bậc) ......................... 14</a:t>
            </a:r>
          </a:p>
          <a:p>
            <a:pPr>
              <a:spcAft>
                <a:spcPts val="800"/>
              </a:spcAft>
              <a:defRPr sz="1200">
                <a:solidFill>
                  <a:srgbClr val="FFFFFF"/>
                </a:solidFill>
              </a:defRPr>
            </a:pPr>
            <a:r>
              <a:t>2.5  UI Components (Nút bấm, Input &amp; Bộ Icon) ......................... 15</a:t>
            </a:r>
          </a:p>
          <a:p>
            <a:pPr>
              <a:spcAft>
                <a:spcPts val="800"/>
              </a:spcAft>
              <a:defRPr sz="1200">
                <a:solidFill>
                  <a:srgbClr val="FFFFFF"/>
                </a:solidFill>
              </a:defRPr>
            </a:pPr>
            <a:r>
              <a:t>2.6  Header &amp; Navigation (Đầu trang &amp; Menu điều hướng) ......................... 16</a:t>
            </a:r>
          </a:p>
          <a:p>
            <a:pPr>
              <a:spcAft>
                <a:spcPts val="800"/>
              </a:spcAft>
              <a:defRPr sz="1200">
                <a:solidFill>
                  <a:srgbClr val="FFFFFF"/>
                </a:solidFill>
              </a:defRPr>
            </a:pPr>
            <a:r>
              <a:t>2.7  Footer &amp; Breadcrumbs (Chân trang &amp; Định vị)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LOGO AND UI COMPONENTS / LOGO</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LOGO IDEA &amp; MEANING</a:t>
            </a:r>
          </a:p>
          <a:p>
            <a:pPr>
              <a:defRPr sz="1100">
                <a:solidFill>
                  <a:srgbClr val="64748B"/>
                </a:solidFill>
              </a:defRPr>
            </a:pPr>
            <a:r>
              <a:t>/Ý tưởng &amp; Ý nghĩa thương hiệu/</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Ý tưởng cách điệu</a:t>
            </a:r>
          </a:p>
          <a:p>
            <a:pPr>
              <a:defRPr sz="1100">
                <a:solidFill>
                  <a:srgbClr val="0F172A"/>
                </a:solidFill>
              </a:defRPr>
            </a:pPr>
            <a:r>
              <a:t>Biểu trưng của Tủ Sách Lưu Động là sự kết hợp hài hòa giữa hình tượng cuốn sách mở rộng như cánh chim tri thức và hình khối chiếc xe bus thân thiện.</a:t>
            </a:r>
            <a:br/>
            <a:r>
              <a:t>• Khối xe bus: Đại diện cho sự chuyển động không ngừng, vượt qua khoảng cách địa lý.</a:t>
            </a:r>
            <a:br/>
            <a:r>
              <a:t>• Trang sách mở: Tượng trưng cho chân trời tri thức rộng mở chào đón mọi độc giả nhỏ tuổi.</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Thông điệp thương hiệu</a:t>
            </a:r>
          </a:p>
          <a:p>
            <a:pPr>
              <a:defRPr sz="1100">
                <a:solidFill>
                  <a:srgbClr val="0F172A"/>
                </a:solidFill>
              </a:defRPr>
            </a:pPr>
            <a:r>
              <a:t>• 'Mỗi chuyến xe là một ngày hội tri thức': Không đơn thuần là việc giao nhận sách, chiếc xe bus đến điểm trường mang theo niềm vui, tiếng cười và khát vọng học hỏi.</a:t>
            </a:r>
            <a:br/>
            <a:r>
              <a:t>• Màu sắc chủ đạo: Tông màu ấm áp Neo-Bakery (Molasses #4E0705, Roast #BD5705, Toasty #ED9040, Butter #FDE971) gợi cảm giác thân thuộc như gian bếp gia đình và những trang sách thơm mùi giấy mới.</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11                          LIBRARY BUS SYSTEM GUIDELINES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LOGO AND UI COMPONENTS / LOGO</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LOGO STRUCTURE &amp; SAFE DISTANCE</a:t>
            </a:r>
          </a:p>
          <a:p>
            <a:pPr>
              <a:defRPr sz="1100">
                <a:solidFill>
                  <a:srgbClr val="64748B"/>
                </a:solidFill>
              </a:defRPr>
            </a:pPr>
            <a:r>
              <a:t>/Cấu trúc tỷ lệ lưới &amp; Khoảng cách an toàn/</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Quy chuẩn tỷ lệ lưới (Grid System)</a:t>
            </a:r>
          </a:p>
          <a:p>
            <a:pPr>
              <a:defRPr sz="1100">
                <a:solidFill>
                  <a:srgbClr val="0F172A"/>
                </a:solidFill>
              </a:defRPr>
            </a:pPr>
            <a:r>
              <a:t>• Hệ thống lưới thiết kế dựa trên đơn vị cơ sở X (với X là chiều cao đường nét biểu tượng).</a:t>
            </a:r>
            <a:br/>
            <a:r>
              <a:t>• Tỷ lệ chiều rộng : chiều cao tổng thể đạt chuẩn 5.5X : 3X nhằm đảm bảo tính cân đối khi hiển thị trên thanh Header website cũng như in trên thành xe bus thực tế.</a:t>
            </a:r>
            <a:br/>
            <a:r>
              <a:t>• Tỷ lệ biểu tượng xe bus chiếm 40%, phần chữ 'Tủ Sách Lưu Động' chiếm 60% chiều ngang.</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Khoảng cách an toàn &amp; Kích thước tối thiểu</a:t>
            </a:r>
          </a:p>
          <a:p>
            <a:pPr>
              <a:defRPr sz="1100">
                <a:solidFill>
                  <a:srgbClr val="0F172A"/>
                </a:solidFill>
              </a:defRPr>
            </a:pPr>
            <a:r>
              <a:t>• Khoảng cách an toàn (Safe Distance): Tối thiểu 1.5X xung quanh logo để không bị xâm lấn bởi các thành phần đồ họa khác.</a:t>
            </a:r>
            <a:br/>
            <a:r>
              <a:t>• Kích thước tối thiểu trên Web: 140px x 40px (đảm bảo độ sắc nét trên màn hình Retina).</a:t>
            </a:r>
            <a:br/>
            <a:r>
              <a:t>• Kích thước in ấn tối thiểu: Chiều ngang 35mm để chữ và chi tiết bánh xe không bị nhòe mực.</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12                          LIBRARY BUS SYSTEM GUIDELINES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LOGO AND UI COMPONENTS / COLOR</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NEO-BAKERY COLOR TOKENS</a:t>
            </a:r>
          </a:p>
          <a:p>
            <a:pPr>
              <a:defRPr sz="1100">
                <a:solidFill>
                  <a:srgbClr val="64748B"/>
                </a:solidFill>
              </a:defRPr>
            </a:pPr>
            <a:r>
              <a:t>/Bảng màu chuẩn 6 tông trích xuất từ tokens.css/</a:t>
            </a:r>
          </a:p>
        </p:txBody>
      </p:sp>
      <p:sp>
        <p:nvSpPr>
          <p:cNvPr id="4" name="Rounded Rectangle 3"/>
          <p:cNvSpPr/>
          <p:nvPr/>
        </p:nvSpPr>
        <p:spPr>
          <a:xfrm>
            <a:off x="731520" y="1645920"/>
            <a:ext cx="106984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023360"/>
          </a:xfrm>
          <a:prstGeom prst="rect">
            <a:avLst/>
          </a:prstGeom>
          <a:noFill/>
        </p:spPr>
        <p:txBody>
          <a:bodyPr wrap="square">
            <a:spAutoFit/>
          </a:bodyPr>
          <a:lstStyle/>
          <a:p>
            <a:pPr>
              <a:spcAft>
                <a:spcPts val="1000"/>
              </a:spcAft>
              <a:defRPr sz="1200" b="1">
                <a:solidFill>
                  <a:srgbClr val="273272"/>
                </a:solidFill>
              </a:defRPr>
            </a:pPr>
            <a:r>
              <a:t>NỘI DUNG CHI TIẾT ĐẶC TẢ:</a:t>
            </a:r>
          </a:p>
          <a:p>
            <a:pPr>
              <a:defRPr sz="1100">
                <a:solidFill>
                  <a:srgbClr val="0F172A"/>
                </a:solidFill>
              </a:defRPr>
            </a:pPr>
            <a:r>
              <a:t>• Molasses Ink (#4E0705 / R: 78   G: 7    B: 5): Màu nâu đen espresso sâu, dùng cho chữ chính &amp; header</a:t>
            </a:r>
          </a:p>
          <a:p>
            <a:pPr>
              <a:defRPr sz="1100">
                <a:solidFill>
                  <a:srgbClr val="0F172A"/>
                </a:solidFill>
              </a:defRPr>
            </a:pPr>
            <a:r>
              <a:t>• Well-browned (#812203 / R: 129  G: 34   B: 3): Màu hạt dẻ nướng, dùng cho viền &amp; phân cách mạnh</a:t>
            </a:r>
          </a:p>
          <a:p>
            <a:pPr>
              <a:defRPr sz="1100">
                <a:solidFill>
                  <a:srgbClr val="0F172A"/>
                </a:solidFill>
              </a:defRPr>
            </a:pPr>
            <a:r>
              <a:t>• Roast Amber (#BD5705 / R: 189  G: 87   B: 5): Màu hổ phách caramel, Single Accent chính cho CTA</a:t>
            </a:r>
          </a:p>
        </p:txBody>
      </p:sp>
      <p:sp>
        <p:nvSpPr>
          <p:cNvPr id="6" name="TextBox 5"/>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13                          LIBRARY BUS SYSTEM GUIDELINES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LOGO AND UI COMPONENTS / TYPOGRAPHY</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TYPOGRAPHY SYSTEM</a:t>
            </a:r>
          </a:p>
          <a:p>
            <a:pPr>
              <a:defRPr sz="1100">
                <a:solidFill>
                  <a:srgbClr val="64748B"/>
                </a:solidFill>
              </a:defRPr>
            </a:pPr>
            <a:r>
              <a:t>/Hệ thống phông chữ &amp; Thang đo tỷ lệ/</a:t>
            </a:r>
          </a:p>
        </p:txBody>
      </p:sp>
      <p:sp>
        <p:nvSpPr>
          <p:cNvPr id="4" name="Rounded Rectangle 3"/>
          <p:cNvSpPr/>
          <p:nvPr/>
        </p:nvSpPr>
        <p:spPr>
          <a:xfrm>
            <a:off x="731520" y="1645920"/>
            <a:ext cx="106984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023360"/>
          </a:xfrm>
          <a:prstGeom prst="rect">
            <a:avLst/>
          </a:prstGeom>
          <a:noFill/>
        </p:spPr>
        <p:txBody>
          <a:bodyPr wrap="square">
            <a:spAutoFit/>
          </a:bodyPr>
          <a:lstStyle/>
          <a:p>
            <a:pPr>
              <a:spcAft>
                <a:spcPts val="1000"/>
              </a:spcAft>
              <a:defRPr sz="1200" b="1">
                <a:solidFill>
                  <a:srgbClr val="273272"/>
                </a:solidFill>
              </a:defRPr>
            </a:pPr>
            <a:r>
              <a:t>NỘI DUNG CHI TIẾT ĐẶC TẢ:</a:t>
            </a:r>
          </a:p>
          <a:p>
            <a:pPr>
              <a:defRPr sz="1050">
                <a:solidFill>
                  <a:srgbClr val="0F172A"/>
                </a:solidFill>
              </a:defRPr>
            </a:pPr>
            <a:r>
              <a:t>• HEADING 1 | Cỡ: 36 pt / 44px | Spacing: -1.0px | Weight: Bold (700) -&gt; Tiêu đề trang chính, Banner Hero</a:t>
            </a:r>
          </a:p>
          <a:p>
            <a:pPr>
              <a:defRPr sz="1050">
                <a:solidFill>
                  <a:srgbClr val="0F172A"/>
                </a:solidFill>
              </a:defRPr>
            </a:pPr>
            <a:r>
              <a:t>• HEADING 2 | Cỡ: 28 pt / 36px | Spacing: -0.5px | Weight: Bold (700) -&gt; Tiêu đề phân hệ, Tên sách chi tiết</a:t>
            </a:r>
          </a:p>
          <a:p>
            <a:pPr>
              <a:defRPr sz="1050">
                <a:solidFill>
                  <a:srgbClr val="0F172A"/>
                </a:solidFill>
              </a:defRPr>
            </a:pPr>
            <a:r>
              <a:t>• HEADING 3 | Cỡ: 20 pt / 28px | Spacing: 0px | Weight: SemiBold (600) -&gt; Tiêu đề khối thẻ sách, Lịch trình xe</a:t>
            </a:r>
          </a:p>
          <a:p>
            <a:pPr>
              <a:defRPr sz="1050">
                <a:solidFill>
                  <a:srgbClr val="0F172A"/>
                </a:solidFill>
              </a:defRPr>
            </a:pPr>
            <a:r>
              <a:t>• HEADING 4 | Cỡ: 16 pt / 24px | Spacing: +0.2px | Weight: SemiBold (600) -&gt; Tiêu đề bảng biểu, Modal popup</a:t>
            </a:r>
          </a:p>
          <a:p>
            <a:pPr>
              <a:defRPr sz="1050">
                <a:solidFill>
                  <a:srgbClr val="0F172A"/>
                </a:solidFill>
              </a:defRPr>
            </a:pPr>
            <a:r>
              <a:t>• BODY 1 | Cỡ: 14 pt / 22px | Spacing: +0.1px | Weight: Regular (400) -&gt; Nội dung văn bản chính, Tóm tắt sách</a:t>
            </a:r>
          </a:p>
          <a:p>
            <a:pPr>
              <a:defRPr sz="1050">
                <a:solidFill>
                  <a:srgbClr val="0F172A"/>
                </a:solidFill>
              </a:defRPr>
            </a:pPr>
            <a:r>
              <a:t>• BODY 2 / CAPTION | Cỡ: 12 pt / 18px | Spacing: +0.2px | Weight: Regular (400) -&gt; Thông tin phụ, Tác giả, Ngày hết hạn</a:t>
            </a:r>
          </a:p>
          <a:p>
            <a:pPr>
              <a:defRPr sz="1050">
                <a:solidFill>
                  <a:srgbClr val="0F172A"/>
                </a:solidFill>
              </a:defRPr>
            </a:pPr>
            <a:r>
              <a:t>• BUTTON &amp; BADGE | Cỡ: 13 pt / 20px | Spacing: +0.5px | Weight: Medium (500) -&gt; Chữ trên nút bấm, Nhãn trạng thái</a:t>
            </a:r>
          </a:p>
        </p:txBody>
      </p:sp>
      <p:sp>
        <p:nvSpPr>
          <p:cNvPr id="6" name="TextBox 5"/>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14                          LIBRARY BUS SYSTEM GUIDELINES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LOGO AND UI COMPONENTS / UI COMPONENTS</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UI COMPONENTS &amp; ICONS</a:t>
            </a:r>
          </a:p>
          <a:p>
            <a:pPr>
              <a:defRPr sz="1100">
                <a:solidFill>
                  <a:srgbClr val="64748B"/>
                </a:solidFill>
              </a:defRPr>
            </a:pPr>
            <a:r>
              <a:t>/Quy chuẩn nút bấm, Input &amp; Bộ icon tương tác/</a:t>
            </a:r>
          </a:p>
        </p:txBody>
      </p:sp>
      <p:sp>
        <p:nvSpPr>
          <p:cNvPr id="4" name="Rounded Rectangle 3"/>
          <p:cNvSpPr/>
          <p:nvPr/>
        </p:nvSpPr>
        <p:spPr>
          <a:xfrm>
            <a:off x="731520" y="1645920"/>
            <a:ext cx="106984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023360"/>
          </a:xfrm>
          <a:prstGeom prst="rect">
            <a:avLst/>
          </a:prstGeom>
          <a:noFill/>
        </p:spPr>
        <p:txBody>
          <a:bodyPr wrap="square">
            <a:spAutoFit/>
          </a:bodyPr>
          <a:lstStyle/>
          <a:p>
            <a:pPr>
              <a:spcAft>
                <a:spcPts val="1000"/>
              </a:spcAft>
              <a:defRPr sz="1200" b="1">
                <a:solidFill>
                  <a:srgbClr val="273272"/>
                </a:solidFill>
              </a:defRPr>
            </a:pPr>
            <a:r>
              <a:t>NỘI DUNG CHI TIẾT ĐẶC TẢ:</a:t>
            </a:r>
          </a:p>
        </p:txBody>
      </p:sp>
      <p:sp>
        <p:nvSpPr>
          <p:cNvPr id="6" name="TextBox 5"/>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15                          LIBRARY BUS SYSTEM GUIDELINES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LOGO AND UI COMPONENTS / NAVIGATION</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HEADER &amp; NAVIGATION SPECIFICATION</a:t>
            </a:r>
          </a:p>
          <a:p>
            <a:pPr>
              <a:defRPr sz="1100">
                <a:solidFill>
                  <a:srgbClr val="64748B"/>
                </a:solidFill>
              </a:defRPr>
            </a:pPr>
            <a:r>
              <a:t>/Quy chuẩn đầu trang &amp; Menu điều hướng/</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Cấu trúc Header cố định (Sticky Navigation)</a:t>
            </a:r>
          </a:p>
          <a:p>
            <a:pPr>
              <a:defRPr sz="1100">
                <a:solidFill>
                  <a:srgbClr val="0F172A"/>
                </a:solidFill>
              </a:defRPr>
            </a:pPr>
            <a:r>
              <a:t>• Chiều cao cố định 64px, nền trắng mờ kính `backdrop-filter: blur(12px)` với viền chân 1px.</a:t>
            </a:r>
            <a:br/>
            <a:r>
              <a:t>• Cụm trái: Logo biểu trưng Tủ Sách Lưu Động kèm slogan ngắn.</a:t>
            </a:r>
            <a:br/>
            <a:r>
              <a:t>• Cụm giữa: Menu điều hướng chính gồm 5 liên kết: 'Trang chủ', 'Kho sách', 'Tuyến xe bus', 'Giao dịch', 'Tin tức Blog'.</a:t>
            </a:r>
            <a:br/>
            <a:r>
              <a:t>• Hiệu ứng Active: Gạch chân màu cam ấm áp và đổi màu chữ đậm hơn.</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Cụm tài khoản &amp; Chuông thông báo</a:t>
            </a:r>
          </a:p>
          <a:p>
            <a:pPr>
              <a:defRPr sz="1100">
                <a:solidFill>
                  <a:srgbClr val="0F172A"/>
                </a:solidFill>
              </a:defRPr>
            </a:pPr>
            <a:r>
              <a:t>• Thanh tìm kiếm nhanh: Ô input có icon kính lúp hỗ trợ gõ tìm nhanh sách theo từ khóa.</a:t>
            </a:r>
            <a:br/>
            <a:r>
              <a:t>• Chuông thông báo tương tác: Có chấm đỏ hiển thị số lượng thông báo chưa đọc (nhắc sách sắp đến hạn).</a:t>
            </a:r>
            <a:br/>
            <a:r>
              <a:t>• Avatar &amp; Dropdown độc giả: Xem nhanh mã số thẻ thư viện, số sách đang mượn và nút 'Đăng xuất'.</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16                          LIBRARY BUS SYSTEM GUIDELINES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LOGO AND UI COMPONENTS / FOOTER</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FOOTER &amp; BREADCRUMBS</a:t>
            </a:r>
          </a:p>
          <a:p>
            <a:pPr>
              <a:defRPr sz="1100">
                <a:solidFill>
                  <a:srgbClr val="64748B"/>
                </a:solidFill>
              </a:defRPr>
            </a:pPr>
            <a:r>
              <a:t>/Quy chuẩn chân trang &amp; Điều hướng vị trí/</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Thanh điều hướng vị trí (Breadcrumbs)</a:t>
            </a:r>
          </a:p>
          <a:p>
            <a:pPr>
              <a:defRPr sz="1100">
                <a:solidFill>
                  <a:srgbClr val="0F172A"/>
                </a:solidFill>
              </a:defRPr>
            </a:pPr>
            <a:r>
              <a:t>• Hiển thị ngay dưới Header trên mọi trang con: `Trang chủ &gt; Kho sách &gt; Chi tiết: Dế Mèn Phiêu Lưu Ký`.</a:t>
            </a:r>
            <a:br/>
            <a:r>
              <a:t>• Giúp độc giả và học sinh không bị mất phương hướng khi duyệt sâu vào cây danh mục thể loại sách.</a:t>
            </a:r>
            <a:br/>
            <a:r>
              <a:t>• Font chữ nhỏ gọn 12px màu xám trung tính, phân cách bởi ký tự `&gt;` thanh mảnh.</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Chân trang toàn diện (Comprehensive Footer)</a:t>
            </a:r>
          </a:p>
          <a:p>
            <a:pPr>
              <a:defRPr sz="1100">
                <a:solidFill>
                  <a:srgbClr val="0F172A"/>
                </a:solidFill>
              </a:defRPr>
            </a:pPr>
            <a:r>
              <a:t>• Nền tối sang trọng `#1E293B`, chữ màu xám sáng `#94A3B8`.</a:t>
            </a:r>
            <a:br/>
            <a:r>
              <a:t>• Cột 1: Thông tin tổ chức, sứ mệnh và giấy phép hoạt động thư viện cộng đồng.</a:t>
            </a:r>
            <a:br/>
            <a:r>
              <a:t>• Cột 2: Danh sách nhanh các tuyến xe bus đang hoạt động trong tuần.</a:t>
            </a:r>
            <a:br/>
            <a:r>
              <a:t>• Cột 3: Chính sách mượn trả, quy định bảo quản sách và bảng phí phạt trễ hạn.</a:t>
            </a:r>
            <a:br/>
            <a:r>
              <a:t>• Cột 4: Hotline thủ thư hỗ trợ và ô đăng ký nhận bản tin qua email.</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17                          LIBRARY BUS SYSTEM GUIDELINES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4572000" cy="3657600"/>
          </a:xfrm>
          <a:prstGeom prst="rect">
            <a:avLst/>
          </a:prstGeom>
          <a:noFill/>
        </p:spPr>
        <p:txBody>
          <a:bodyPr wrap="none">
            <a:spAutoFit/>
          </a:bodyPr>
          <a:lstStyle/>
          <a:p>
            <a:pPr>
              <a:defRPr sz="16000" b="1">
                <a:solidFill>
                  <a:srgbClr val="FFFFFF"/>
                </a:solidFill>
              </a:defRPr>
            </a:pPr>
            <a:r>
              <a:t>03</a:t>
            </a:r>
          </a:p>
        </p:txBody>
      </p:sp>
      <p:sp>
        <p:nvSpPr>
          <p:cNvPr id="4" name="TextBox 3"/>
          <p:cNvSpPr txBox="1"/>
          <p:nvPr/>
        </p:nvSpPr>
        <p:spPr>
          <a:xfrm>
            <a:off x="4114800" y="1371600"/>
            <a:ext cx="7315200" cy="4572000"/>
          </a:xfrm>
          <a:prstGeom prst="rect">
            <a:avLst/>
          </a:prstGeom>
          <a:noFill/>
        </p:spPr>
        <p:txBody>
          <a:bodyPr wrap="square">
            <a:spAutoFit/>
          </a:bodyPr>
          <a:lstStyle/>
          <a:p>
            <a:pPr>
              <a:defRPr sz="3600" b="1">
                <a:solidFill>
                  <a:srgbClr val="FFFFFF"/>
                </a:solidFill>
              </a:defRPr>
            </a:pPr>
            <a:r>
              <a:t>ARCHITECTURE AND</a:t>
            </a:r>
            <a:br/>
            <a:r>
              <a:t>ENGINEERING</a:t>
            </a:r>
          </a:p>
          <a:p>
            <a:pPr>
              <a:spcAft>
                <a:spcPts val="2400"/>
              </a:spcAft>
              <a:defRPr sz="1600">
                <a:solidFill>
                  <a:srgbClr val="FFFFFF"/>
                </a:solidFill>
              </a:defRPr>
            </a:pPr>
            <a:r>
              <a:t>/Kiến trúc hệ thống, Dữ liệu &amp; Xử lý nền/</a:t>
            </a:r>
          </a:p>
          <a:p>
            <a:pPr>
              <a:spcAft>
                <a:spcPts val="800"/>
              </a:spcAft>
              <a:defRPr sz="1200">
                <a:solidFill>
                  <a:srgbClr val="FFFFFF"/>
                </a:solidFill>
              </a:defRPr>
            </a:pPr>
            <a:r>
              <a:t>3.1  Concentric Radar Architecture (Kiến trúc 6 vòng tròn đồng tâm) ......................... 19</a:t>
            </a:r>
          </a:p>
          <a:p>
            <a:pPr>
              <a:spcAft>
                <a:spcPts val="800"/>
              </a:spcAft>
              <a:defRPr sz="1200">
                <a:solidFill>
                  <a:srgbClr val="FFFFFF"/>
                </a:solidFill>
              </a:defRPr>
            </a:pPr>
            <a:r>
              <a:t>3.2  Database Schema &amp; ORM (Lược đồ cơ sở dữ liệu quan hệ) ......................... 20</a:t>
            </a:r>
          </a:p>
          <a:p>
            <a:pPr>
              <a:spcAft>
                <a:spcPts val="800"/>
              </a:spcAft>
              <a:defRPr sz="1200">
                <a:solidFill>
                  <a:srgbClr val="FFFFFF"/>
                </a:solidFill>
              </a:defRPr>
            </a:pPr>
            <a:r>
              <a:t>3.3  Service Layer &amp; Concurrency (Tầng nghiệp vụ &amp; Khóa đồng thời) ......................... 21</a:t>
            </a:r>
          </a:p>
          <a:p>
            <a:pPr>
              <a:spcAft>
                <a:spcPts val="800"/>
              </a:spcAft>
              <a:defRPr sz="1200">
                <a:solidFill>
                  <a:srgbClr val="FFFFFF"/>
                </a:solidFill>
              </a:defRPr>
            </a:pPr>
            <a:r>
              <a:t>3.4  Async Processing &amp; Celery (Xử lý tác vụ nền Celery/Redis) ......................... 22</a:t>
            </a:r>
          </a:p>
          <a:p>
            <a:pPr>
              <a:spcAft>
                <a:spcPts val="800"/>
              </a:spcAft>
              <a:defRPr sz="1200">
                <a:solidFill>
                  <a:srgbClr val="FFFFFF"/>
                </a:solidFill>
              </a:defRPr>
            </a:pPr>
            <a:r>
              <a:t>3.5  Cache Strategy &amp; Soft Delete (Bộ nhớ đệm &amp; Cơ chế xóa mềm)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ARCHITECTURE AND ENGINEERING / RADAR</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CONCENTRIC RADAR ARCHITECTURE</a:t>
            </a:r>
          </a:p>
          <a:p>
            <a:pPr>
              <a:defRPr sz="1100">
                <a:solidFill>
                  <a:srgbClr val="64748B"/>
                </a:solidFill>
              </a:defRPr>
            </a:pPr>
            <a:r>
              <a:t>/Phân bổ kiến trúc từ Lõi đến Giao diện/</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Mô hình 6 vòng tròn đồng tâm</a:t>
            </a:r>
          </a:p>
          <a:p>
            <a:pPr>
              <a:defRPr sz="1100">
                <a:solidFill>
                  <a:srgbClr val="0F172A"/>
                </a:solidFill>
              </a:defRPr>
            </a:pPr>
            <a:r>
              <a:t>Trích xuất từ công cụ Understand Anything, toàn bộ 235 tệp mã nguồn được tổ chức theo 6 vòng quỹ đạo:</a:t>
            </a:r>
            <a:br/>
            <a:r>
              <a:t>• Vòng 1 (Tâm - R140): `Core &amp; Config` (settings, mixins, manage.py)</a:t>
            </a:r>
            <a:br/>
            <a:r>
              <a:t>• Vòng 2 (R270): `Models &amp; DB` (25+ bảng ORM, migrations)</a:t>
            </a:r>
            <a:br/>
            <a:r>
              <a:t>• Vòng 3 (R390): `Services &amp; Tasks` (transactions.services, celery)</a:t>
            </a:r>
            <a:br/>
            <a:r>
              <a:t>• Vòng 4 (R520): `Views &amp; Controllers` (HTTP handlers, forms, admin)</a:t>
            </a:r>
            <a:br/>
            <a:r>
              <a:t>• Vòng 5 (R650): `Testing &amp; Docs` (Unit tests, guides)</a:t>
            </a:r>
            <a:br/>
            <a:r>
              <a:t>• Vòng 6-7 (R800-920): `Frontend Templates` (70+ HTML/CSS)</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Giá trị của mô hình</a:t>
            </a:r>
          </a:p>
          <a:p>
            <a:pPr>
              <a:defRPr sz="1100">
                <a:solidFill>
                  <a:srgbClr val="0F172A"/>
                </a:solidFill>
              </a:defRPr>
            </a:pPr>
            <a:r>
              <a:t>• Tính phân lập cao: Code ở tầng ngoài phụ thuộc tầng trong, không có tình trạng phụ thuộc vòng tròn (Circular Dependency).</a:t>
            </a:r>
            <a:br/>
            <a:r>
              <a:t>• 100% kết nối: Toàn bộ 235 file đều có mối liên hệ kiến trúc chặt chẽ, không có file thừa hoặc code chết.</a:t>
            </a:r>
            <a:br/>
            <a:r>
              <a:t>• Dễ dàng chuyển đổi: Khi cần nâng cấp lên Microservices, chỉ cần tách Vòng 3 &amp; Vòng 4 thành các REST API services độc lập.</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19                          LIBRARY BUS SYSTEM GUIDELINES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ARCHITECTURE AND ENGINEERING / DATABASE</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DATABASE SCHEMA &amp; ORM</a:t>
            </a:r>
          </a:p>
          <a:p>
            <a:pPr>
              <a:defRPr sz="1100">
                <a:solidFill>
                  <a:srgbClr val="64748B"/>
                </a:solidFill>
              </a:defRPr>
            </a:pPr>
            <a:r>
              <a:t>/Thiết kế lược đồ cơ sở dữ liệu quan hệ/</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Thực thể chính và quan hệ</a:t>
            </a:r>
          </a:p>
          <a:p>
            <a:pPr>
              <a:defRPr sz="1100">
                <a:solidFill>
                  <a:srgbClr val="0F172A"/>
                </a:solidFill>
              </a:defRPr>
            </a:pPr>
            <a:r>
              <a:t>• `Book` 1 - N `BookCopy`: Một đầu sách có thể có nhiều bản sao vật lý trên nhiều xe bus.</a:t>
            </a:r>
            <a:br/>
            <a:r>
              <a:t>• `LibraryBus` 1 - N `Route`: Một xe bus có lịch trình đỗ tại nhiều điểm trường trong tuần.</a:t>
            </a:r>
            <a:br/>
            <a:r>
              <a:t>• `BorrowRecord`: Bản ghi trung tâm liên kết `CustomUser`, `BookCopy` và `LibraryBus`.</a:t>
            </a:r>
            <a:br/>
            <a:r>
              <a:t>• `BookReservation`: Hàng đợi đặt trước xếp theo thứ tự ưu tiên thời gian (`created_at ASC`).</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Tối ưu hóa chỉ mục (Indexes)</a:t>
            </a:r>
          </a:p>
          <a:p>
            <a:pPr>
              <a:defRPr sz="1100">
                <a:solidFill>
                  <a:srgbClr val="0F172A"/>
                </a:solidFill>
              </a:defRPr>
            </a:pPr>
            <a:r>
              <a:t>• B-Tree Index trên các trường lọc thường xuyên: `isbn`, `barcode`, `status`, `due_date`.</a:t>
            </a:r>
            <a:br/>
            <a:r>
              <a:t>• Composite Index: `(user_id, status)` giúp kiểm tra nhanh số sách bạn đọc đang mượn.</a:t>
            </a:r>
            <a:br/>
            <a:r>
              <a:t>• Soft Delete Index: Đánh chỉ mục trên trường `deleted_at` giúp loại bỏ nhanh các bản ghi đã xóa mà không làm chậm câu truy vấn.</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20                          LIBRARY BUS SYSTEM GUIDELINES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ARCHITECTURE AND ENGINEERING / SERVICES</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SERVICE LAYER &amp; CONCURRENCY</a:t>
            </a:r>
          </a:p>
          <a:p>
            <a:pPr>
              <a:defRPr sz="1100">
                <a:solidFill>
                  <a:srgbClr val="64748B"/>
                </a:solidFill>
              </a:defRPr>
            </a:pPr>
            <a:r>
              <a:t>/Xử lý giao dịch &amp; Chống Race Condition/</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Tách biệt Service Layer</a:t>
            </a:r>
          </a:p>
          <a:p>
            <a:pPr>
              <a:defRPr sz="1100">
                <a:solidFill>
                  <a:srgbClr val="0F172A"/>
                </a:solidFill>
              </a:defRPr>
            </a:pPr>
            <a:r>
              <a:t>• Toàn bộ logic giao dịch mượn/trả sách được gói trong `TransactionService` (`transactions/services.py`).</a:t>
            </a:r>
            <a:br/>
            <a:r>
              <a:t>• View chỉ làm nhiệm vụ nhận request, validate form và gọi hàm service tương ứng.</a:t>
            </a:r>
            <a:br/>
            <a:r>
              <a:t>• Giúp kiểm thử tự động (Unit Test) chạy độc lập mà không cần khởi tạo môi trường HTTP giả lập phức tạp.</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Giải pháp Khóa dòng select_for_update()</a:t>
            </a:r>
          </a:p>
          <a:p>
            <a:pPr>
              <a:defRPr sz="1100">
                <a:solidFill>
                  <a:srgbClr val="0F172A"/>
                </a:solidFill>
              </a:defRPr>
            </a:pPr>
            <a:r>
              <a:t>• Tình huống: 2 bạn đọc cùng bấm mượn cuốn sách cuối cùng tại cùng một tích tắc.</a:t>
            </a:r>
            <a:br/>
            <a:r>
              <a:t>• Giải pháp: Bọc trong `transaction.atomic()` và gọi `.select_for_update()` trên bản ghi sách.</a:t>
            </a:r>
            <a:br/>
            <a:r>
              <a:t>• Cơ sở dữ liệu sẽ khóa tạm thời dòng bản ghi cho đến khi giao dịch trừ tồn kho kết thúc, ngăn chặn hoàn toàn việc mượn âm sách.</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21                          LIBRARY BUS SYSTEM GUIDELINES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ARCHITECTURE AND ENGINEERING / ASYNC</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ASYNC PROCESSING &amp; CELERY</a:t>
            </a:r>
          </a:p>
          <a:p>
            <a:pPr>
              <a:defRPr sz="1100">
                <a:solidFill>
                  <a:srgbClr val="64748B"/>
                </a:solidFill>
              </a:defRPr>
            </a:pPr>
            <a:r>
              <a:t>/Xử lý hàng đợi bất đồng bộ với Redis/</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Mô hình xử lý tác vụ nền</a:t>
            </a:r>
          </a:p>
          <a:p>
            <a:pPr>
              <a:defRPr sz="1100">
                <a:solidFill>
                  <a:srgbClr val="0F172A"/>
                </a:solidFill>
              </a:defRPr>
            </a:pPr>
            <a:r>
              <a:t>• Django Web Server ➔ Đẩy task vào Redis Message Broker ➔ Phản hồi ngay cho người dùng trong &lt; 50ms.</a:t>
            </a:r>
            <a:br/>
            <a:r>
              <a:t>• Celery Worker chạy ngầm rút task từ Redis và thực thi độc lập.</a:t>
            </a:r>
            <a:br/>
            <a:r>
              <a:t>• Các task tiêu biểu: Gửi email xác nhận mượn sách, nén ảnh bìa sách khi tải lên, cập nhật bảng xếp hạng đọc sách.</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Lập lịch định kỳ với Celery Beat</a:t>
            </a:r>
          </a:p>
          <a:p>
            <a:pPr>
              <a:defRPr sz="1100">
                <a:solidFill>
                  <a:srgbClr val="0F172A"/>
                </a:solidFill>
              </a:defRPr>
            </a:pPr>
            <a:r>
              <a:t>• `generate_daily_stats_task`: Chạy lúc 00:00 hàng ngày để tổng hợp lượt mượn trong ngày.</a:t>
            </a:r>
            <a:br/>
            <a:r>
              <a:t>• `check_overdue_borrows_task`: Quét danh sách sách sắp đến hạn và quá hạn lúc 06:00 sáng để gửi thông báo nhắc nhở.</a:t>
            </a:r>
            <a:br/>
            <a:r>
              <a:t>• `cache_warmup_task`: Nạp sẵn dữ liệu trang chủ vào Redis trước giờ xe bus bắt đầu phục vụ.</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22                          LIBRARY BUS SYSTEM GUIDELINES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ARCHITECTURE AND ENGINEERING / CACHE</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CACHE STRATEGY &amp; SOFT DELETE</a:t>
            </a:r>
          </a:p>
          <a:p>
            <a:pPr>
              <a:defRPr sz="1100">
                <a:solidFill>
                  <a:srgbClr val="64748B"/>
                </a:solidFill>
              </a:defRPr>
            </a:pPr>
            <a:r>
              <a:t>/Bộ nhớ đệm đa tầng &amp; Cơ chế xóa mềm/</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Cơ chế Cache Versioning</a:t>
            </a:r>
          </a:p>
          <a:p>
            <a:pPr>
              <a:defRPr sz="1100">
                <a:solidFill>
                  <a:srgbClr val="0F172A"/>
                </a:solidFill>
              </a:defRPr>
            </a:pPr>
            <a:r>
              <a:t>• Áp dụng `CacheMixin`: Mỗi Model mang một số phiên bản `cache_version`.</a:t>
            </a:r>
            <a:br/>
            <a:r>
              <a:t>• Cache Key: `book_detail_{{id}}_v{{version}}`.</a:t>
            </a:r>
            <a:br/>
            <a:r>
              <a:t>• Khi thủ thư sửa thông tin sách, `version` tự động tăng lên 1 ➔ toàn bộ cache cũ tự vô hiệu hóa tức thì mà không cần quét lệnh flush cache tốn tài nguyên.</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Cơ chế Xóa mềm (Soft Delete)</a:t>
            </a:r>
          </a:p>
          <a:p>
            <a:pPr>
              <a:defRPr sz="1100">
                <a:solidFill>
                  <a:srgbClr val="0F172A"/>
                </a:solidFill>
              </a:defRPr>
            </a:pPr>
            <a:r>
              <a:t>• Kế thừa `SoftDeleteModel`: Thêm trường `deleted_at`.</a:t>
            </a:r>
            <a:br/>
            <a:r>
              <a:t>• Khi bấm xóa, hệ thống chỉ cập nhật timestamp thay vì xóa khỏi CSDL.</a:t>
            </a:r>
            <a:br/>
            <a:r>
              <a:t>• Mặc định `objects.all()` tự lọc bỏ dữ liệu đã xóa mềm, bảo toàn 100% dữ liệu lịch sử mượn trả của độc giả trong quá khứ.</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23                          LIBRARY BUS SYSTEM GUIDELINES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4572000" cy="3657600"/>
          </a:xfrm>
          <a:prstGeom prst="rect">
            <a:avLst/>
          </a:prstGeom>
          <a:noFill/>
        </p:spPr>
        <p:txBody>
          <a:bodyPr wrap="none">
            <a:spAutoFit/>
          </a:bodyPr>
          <a:lstStyle/>
          <a:p>
            <a:pPr>
              <a:defRPr sz="16000" b="1">
                <a:solidFill>
                  <a:srgbClr val="FFFFFF"/>
                </a:solidFill>
              </a:defRPr>
            </a:pPr>
            <a:r>
              <a:t>04</a:t>
            </a:r>
          </a:p>
        </p:txBody>
      </p:sp>
      <p:sp>
        <p:nvSpPr>
          <p:cNvPr id="4" name="TextBox 3"/>
          <p:cNvSpPr txBox="1"/>
          <p:nvPr/>
        </p:nvSpPr>
        <p:spPr>
          <a:xfrm>
            <a:off x="4114800" y="1371600"/>
            <a:ext cx="7315200" cy="4572000"/>
          </a:xfrm>
          <a:prstGeom prst="rect">
            <a:avLst/>
          </a:prstGeom>
          <a:noFill/>
        </p:spPr>
        <p:txBody>
          <a:bodyPr wrap="square">
            <a:spAutoFit/>
          </a:bodyPr>
          <a:lstStyle/>
          <a:p>
            <a:pPr>
              <a:defRPr sz="3600" b="1">
                <a:solidFill>
                  <a:srgbClr val="FFFFFF"/>
                </a:solidFill>
              </a:defRPr>
            </a:pPr>
            <a:r>
              <a:t>WIREFRAME AND</a:t>
            </a:r>
            <a:br/>
            <a:r>
              <a:t>VISUAL DESIGN</a:t>
            </a:r>
          </a:p>
          <a:p>
            <a:pPr>
              <a:spcAft>
                <a:spcPts val="2400"/>
              </a:spcAft>
              <a:defRPr sz="1600">
                <a:solidFill>
                  <a:srgbClr val="FFFFFF"/>
                </a:solidFill>
              </a:defRPr>
            </a:pPr>
            <a:r>
              <a:t>/Khung dây &amp; Giao diện người dùng thực tế/</a:t>
            </a:r>
          </a:p>
          <a:p>
            <a:pPr>
              <a:spcAft>
                <a:spcPts val="800"/>
              </a:spcAft>
              <a:defRPr sz="1200">
                <a:solidFill>
                  <a:srgbClr val="FFFFFF"/>
                </a:solidFill>
              </a:defRPr>
            </a:pPr>
            <a:r>
              <a:t>4.1  Trang chủ &amp; Banner tìm kiếm (Home &amp; Hero) ......................... 25</a:t>
            </a:r>
          </a:p>
          <a:p>
            <a:pPr>
              <a:spcAft>
                <a:spcPts val="800"/>
              </a:spcAft>
              <a:defRPr sz="1200">
                <a:solidFill>
                  <a:srgbClr val="FFFFFF"/>
                </a:solidFill>
              </a:defRPr>
            </a:pPr>
            <a:r>
              <a:t>4.2  Danh mục sách &amp; Bộ lọc đa chiều (Catalog &amp; Filters) ......................... 26</a:t>
            </a:r>
          </a:p>
          <a:p>
            <a:pPr>
              <a:spcAft>
                <a:spcPts val="800"/>
              </a:spcAft>
              <a:defRPr sz="1200">
                <a:solidFill>
                  <a:srgbClr val="FFFFFF"/>
                </a:solidFill>
              </a:defRPr>
            </a:pPr>
            <a:r>
              <a:t>4.3  Chi tiết sách &amp; Đặt chỗ (Book Detail &amp; Reservation) ......................... 27</a:t>
            </a:r>
          </a:p>
          <a:p>
            <a:pPr>
              <a:spcAft>
                <a:spcPts val="800"/>
              </a:spcAft>
              <a:defRPr sz="1200">
                <a:solidFill>
                  <a:srgbClr val="FFFFFF"/>
                </a:solidFill>
              </a:defRPr>
            </a:pPr>
            <a:r>
              <a:t>4.4  Lộ trình xe &amp; Điểm đỗ (Bus Routes &amp; Schedule) ......................... 28</a:t>
            </a:r>
          </a:p>
          <a:p>
            <a:pPr>
              <a:spcAft>
                <a:spcPts val="800"/>
              </a:spcAft>
              <a:defRPr sz="1200">
                <a:solidFill>
                  <a:srgbClr val="FFFFFF"/>
                </a:solidFill>
              </a:defRPr>
            </a:pPr>
            <a:r>
              <a:t>4.5  Bảng điều khiển thủ thư (Librarian Dashboard) ......................... 29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WEBSITE DESIGN / VISUAL DESIGN</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TRANG CHỦ &amp; TÌM KIẾM NHANH</a:t>
            </a:r>
          </a:p>
          <a:p>
            <a:pPr>
              <a:defRPr sz="1100">
                <a:solidFill>
                  <a:srgbClr val="64748B"/>
                </a:solidFill>
              </a:defRPr>
            </a:pPr>
            <a:r>
              <a:t>/So sánh Wireframe &amp; Giao diện thực tế/</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defRPr sz="1100">
                <a:solidFill>
                  <a:srgbClr val="0F172A"/>
                </a:solidFill>
              </a:defRPr>
            </a:pPr>
            <a:r>
              <a:t>1. WIREFRAME /Khung dây/</a:t>
            </a:r>
            <a:br/>
            <a:br/>
            <a:r>
              <a:t>Khung dây Wireframe</a:t>
            </a:r>
            <a:br/>
            <a:br/>
            <a:r>
              <a:t>Bố cục lưới 12 cột, thanh tìm kiếm nổi bật ở vị trí trung tâm Hero Banner, phía dưới là lưới 4 cột hiển thị danh sách sách mới về và các tuyến xe bus đang hoạt động trong ngày.</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dashboard.jpg"/>
          <p:cNvPicPr>
            <a:picLocks noChangeAspect="1"/>
          </p:cNvPicPr>
          <p:nvPr/>
        </p:nvPicPr>
        <p:blipFill>
          <a:blip r:embed="rId2"/>
          <a:stretch>
            <a:fillRect/>
          </a:stretch>
        </p:blipFill>
        <p:spPr>
          <a:xfrm>
            <a:off x="6400800" y="1828800"/>
            <a:ext cx="4754880" cy="2651760"/>
          </a:xfrm>
          <a:prstGeom prst="rect">
            <a:avLst/>
          </a:prstGeom>
        </p:spPr>
      </p:pic>
      <p:sp>
        <p:nvSpPr>
          <p:cNvPr id="8" name="TextBox 7"/>
          <p:cNvSpPr txBox="1"/>
          <p:nvPr/>
        </p:nvSpPr>
        <p:spPr>
          <a:xfrm>
            <a:off x="6400800" y="4572000"/>
            <a:ext cx="4754880" cy="1371600"/>
          </a:xfrm>
          <a:prstGeom prst="rect">
            <a:avLst/>
          </a:prstGeom>
          <a:noFill/>
        </p:spPr>
        <p:txBody>
          <a:bodyPr wrap="square">
            <a:spAutoFit/>
          </a:bodyPr>
          <a:lstStyle/>
          <a:p>
            <a:pPr>
              <a:defRPr sz="1050">
                <a:solidFill>
                  <a:srgbClr val="273272"/>
                </a:solidFill>
              </a:defRPr>
            </a:pPr>
            <a:r>
              <a:t>2. UI DESIGN /Giao diện hoàn thiện/</a:t>
            </a:r>
            <a:br/>
            <a:r>
              <a:t>Giao diện hoàn thiện (UI Design): Ứng dụng phong cách Neo-Bakery với hình ảnh xe bus minh họa 3D ấm áp, thanh search có gợi ý autocomplete tức thì, thẻ sách có hoạt ảnh GSAP lật trang mượt mà 60 FPS.</a:t>
            </a:r>
          </a:p>
        </p:txBody>
      </p:sp>
      <p:sp>
        <p:nvSpPr>
          <p:cNvPr id="9" name="TextBox 8"/>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25                          LIBRARY BUS SYSTEM GUIDELINES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WEBSITE DESIGN / VISUAL DESIGN</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DANH MỤC SÁCH &amp; HỒ SƠ ĐỘC GIẢ</a:t>
            </a:r>
          </a:p>
          <a:p>
            <a:pPr>
              <a:defRPr sz="1100">
                <a:solidFill>
                  <a:srgbClr val="64748B"/>
                </a:solidFill>
              </a:defRPr>
            </a:pPr>
            <a:r>
              <a:t>/So sánh Wireframe &amp; Giao diện Responsive/</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defRPr sz="1100">
                <a:solidFill>
                  <a:srgbClr val="0F172A"/>
                </a:solidFill>
              </a:defRPr>
            </a:pPr>
            <a:r>
              <a:t>1. WIREFRAME /Khung dây/</a:t>
            </a:r>
            <a:br/>
            <a:br/>
            <a:r>
              <a:t>Khung dây Wireframe Mobile</a:t>
            </a:r>
            <a:br/>
            <a:br/>
            <a:r>
              <a:t>Bố cục đơn cột tối ưu cảm ứng di động: Thẻ thư viện mã vạch Barcode ở đầu trang, biểu đồ tiến độ đọc sách và danh sách sách đang mượn có thể vuốt ngang (horizontal carousel).</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i_mobile.jpg"/>
          <p:cNvPicPr>
            <a:picLocks noChangeAspect="1"/>
          </p:cNvPicPr>
          <p:nvPr/>
        </p:nvPicPr>
        <p:blipFill>
          <a:blip r:embed="rId2"/>
          <a:stretch>
            <a:fillRect/>
          </a:stretch>
        </p:blipFill>
        <p:spPr>
          <a:xfrm>
            <a:off x="6400800" y="1828800"/>
            <a:ext cx="4754880" cy="2651760"/>
          </a:xfrm>
          <a:prstGeom prst="rect">
            <a:avLst/>
          </a:prstGeom>
        </p:spPr>
      </p:pic>
      <p:sp>
        <p:nvSpPr>
          <p:cNvPr id="8" name="TextBox 7"/>
          <p:cNvSpPr txBox="1"/>
          <p:nvPr/>
        </p:nvSpPr>
        <p:spPr>
          <a:xfrm>
            <a:off x="6400800" y="4572000"/>
            <a:ext cx="4754880" cy="1371600"/>
          </a:xfrm>
          <a:prstGeom prst="rect">
            <a:avLst/>
          </a:prstGeom>
          <a:noFill/>
        </p:spPr>
        <p:txBody>
          <a:bodyPr wrap="square">
            <a:spAutoFit/>
          </a:bodyPr>
          <a:lstStyle/>
          <a:p>
            <a:pPr>
              <a:defRPr sz="1050">
                <a:solidFill>
                  <a:srgbClr val="273272"/>
                </a:solidFill>
              </a:defRPr>
            </a:pPr>
            <a:r>
              <a:t>2. UI DESIGN /Giao diện hoàn thiện/</a:t>
            </a:r>
            <a:br/>
            <a:r>
              <a:t>Giao diện Mobile Responsive: Tích hợp biểu đồ Reading Streak động, thẻ quét mã vạch thành viên (Digital Card Code 128), hiển thị ngày hẹn trả sách và nút bấm gia hạn (Renew) 1 chạm.</a:t>
            </a:r>
          </a:p>
        </p:txBody>
      </p:sp>
      <p:sp>
        <p:nvSpPr>
          <p:cNvPr id="9" name="TextBox 8"/>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26                          LIBRARY BUS SYSTEM GUIDELINES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WEBSITE DESIGN / VISUAL DESIGN</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CHI TIẾT SÁCH &amp; ĐẶT CHỖ</a:t>
            </a:r>
          </a:p>
          <a:p>
            <a:pPr>
              <a:defRPr sz="1100">
                <a:solidFill>
                  <a:srgbClr val="64748B"/>
                </a:solidFill>
              </a:defRPr>
            </a:pPr>
            <a:r>
              <a:t>/So sánh Wireframe &amp; Giao diện thực tế/</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defRPr sz="1100">
                <a:solidFill>
                  <a:srgbClr val="0F172A"/>
                </a:solidFill>
              </a:defRPr>
            </a:pPr>
            <a:r>
              <a:t>1. WIREFRAME /Khung dây/</a:t>
            </a:r>
            <a:br/>
            <a:br/>
            <a:r>
              <a:t>Khung dây Wireframe</a:t>
            </a:r>
            <a:br/>
            <a:br/>
            <a:r>
              <a:t>Phần trên chia 2 cột: Cột trái ảnh bìa lớn, cột phải thông tin tác giả, NXB, số lượng bản sao khả dụng. Phần dưới là các tab: Tóm tắt nội dung, Vị trí xe bus và Đánh giá của bạn đọc.</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defRPr sz="1050">
                <a:solidFill>
                  <a:srgbClr val="273272"/>
                </a:solidFill>
              </a:defRPr>
            </a:pPr>
            <a:r>
              <a:t>2. UI DESIGN /Giao diện hoàn thiện/</a:t>
            </a:r>
            <a:br/>
            <a:r>
              <a:t>Giao diện hoàn thiện (UI Design): Hiển thị bảng tình trạng các bản sao (Copy Status) rõ ràng: Bản sao #1 (Xe Tuyến 1 - Khả dụng), Bản sao #2 (Xe Tuyến 3 - Đang mượn, hạn trả 15/09). Nút đặt trước kích hoạt modal xác nhận.</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27                          LIBRARY BUS SYSTEM GUIDELINES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WEBSITE DESIGN / VISUAL DESIGN</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LỘ TRÌNH XE &amp; LỊCH ĐIỂM ĐỖ</a:t>
            </a:r>
          </a:p>
          <a:p>
            <a:pPr>
              <a:defRPr sz="1100">
                <a:solidFill>
                  <a:srgbClr val="64748B"/>
                </a:solidFill>
              </a:defRPr>
            </a:pPr>
            <a:r>
              <a:t>/So sánh Wireframe &amp; Giao diện thực tế/</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defRPr sz="1100">
                <a:solidFill>
                  <a:srgbClr val="0F172A"/>
                </a:solidFill>
              </a:defRPr>
            </a:pPr>
            <a:r>
              <a:t>1. WIREFRAME /Khung dây/</a:t>
            </a:r>
            <a:br/>
            <a:br/>
            <a:r>
              <a:t>Khung dây Wireframe</a:t>
            </a:r>
            <a:br/>
            <a:br/>
            <a:r>
              <a:t>Bản đồ tuyến đường ở nửa trên màn hình, nửa dưới là bảng lịch trình theo ngày trong tuần: Giờ đến, Giờ đi, Tên điểm trường và Thủ thư phụ trách.</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defRPr sz="1050">
                <a:solidFill>
                  <a:srgbClr val="273272"/>
                </a:solidFill>
              </a:defRPr>
            </a:pPr>
            <a:r>
              <a:t>2. UI DESIGN /Giao diện hoàn thiện/</a:t>
            </a:r>
            <a:br/>
            <a:r>
              <a:t>Giao diện hoàn thiện (UI Design): Trực quan hóa tuyến đường bằng hoạt cảnh di chuyển xe bus (GSAP Motion Path), thẻ điểm đỗ có chỉ đường Google Maps và nút 'Nhận thông báo khi xe đến' tiện lợi.</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28                          LIBRARY BUS SYSTEM GUIDELINES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TESTING AND DEPLOYMENT / QUALITY ASSURANCE</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TESTING &amp; CONTAINERIZATION</a:t>
            </a:r>
          </a:p>
          <a:p>
            <a:pPr>
              <a:defRPr sz="1100">
                <a:solidFill>
                  <a:srgbClr val="64748B"/>
                </a:solidFill>
              </a:defRPr>
            </a:pPr>
            <a:r>
              <a:t>/Đảm bảo chất lượng &amp; Hạ tầng triển khai/</a:t>
            </a:r>
          </a:p>
        </p:txBody>
      </p:sp>
      <p:sp>
        <p:nvSpPr>
          <p:cNvPr id="4" name="Rounded Rectangle 3"/>
          <p:cNvSpPr/>
          <p:nvPr/>
        </p:nvSpPr>
        <p:spPr>
          <a:xfrm>
            <a:off x="7315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300" b="1">
                <a:solidFill>
                  <a:srgbClr val="273272"/>
                </a:solidFill>
              </a:defRPr>
            </a:pPr>
            <a:r>
              <a:t>Chiến lược kiểm thử tự động</a:t>
            </a:r>
          </a:p>
          <a:p>
            <a:pPr>
              <a:defRPr sz="1100">
                <a:solidFill>
                  <a:srgbClr val="0F172A"/>
                </a:solidFill>
              </a:defRPr>
            </a:pPr>
            <a:r>
              <a:t>• Unit Tests: Bao phủ các hàm tính toán tiền phạt, kiểm tra trừ tồn kho trong `transactions/tests.py` và `inventory/tests.py`.</a:t>
            </a:r>
            <a:br/>
            <a:r>
              <a:t>• Functional Tests (`functional_test.py`): Kịch bản tự động kiểm tra toàn bộ luồng người dùng từ đăng nhập đến mượn sách thành công.</a:t>
            </a:r>
            <a:br/>
            <a:r>
              <a:t>• Tích hợp CI/CD: Tự động chạy toàn bộ bộ test trên GitHub Actions mỗi khi tạo Pull Request.</a:t>
            </a:r>
          </a:p>
        </p:txBody>
      </p:sp>
      <p:sp>
        <p:nvSpPr>
          <p:cNvPr id="6" name="Rounded Rectangle 5"/>
          <p:cNvSpPr/>
          <p:nvPr/>
        </p:nvSpPr>
        <p:spPr>
          <a:xfrm>
            <a:off x="6217920" y="1645920"/>
            <a:ext cx="512064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300" b="1">
                <a:solidFill>
                  <a:srgbClr val="273272"/>
                </a:solidFill>
              </a:defRPr>
            </a:pPr>
            <a:r>
              <a:t>Đóng gói Docker 4 dịch vụ</a:t>
            </a:r>
          </a:p>
          <a:p>
            <a:pPr>
              <a:defRPr sz="1100">
                <a:solidFill>
                  <a:srgbClr val="0F172A"/>
                </a:solidFill>
              </a:defRPr>
            </a:pPr>
            <a:r>
              <a:t>• `docker-compose.yml` điều phối 4 container đồng bộ:</a:t>
            </a:r>
            <a:br/>
            <a:r>
              <a:t>  1. Web App (Django + Gunicorn)</a:t>
            </a:r>
            <a:br/>
            <a:r>
              <a:t>  2. In-Memory Cache (Redis)</a:t>
            </a:r>
            <a:br/>
            <a:r>
              <a:t>  3. Background Worker (Celery)</a:t>
            </a:r>
            <a:br/>
            <a:r>
              <a:t>  4. Task Scheduler (Celery Beat)</a:t>
            </a:r>
            <a:br/>
            <a:r>
              <a:t>• Triển khai một lệnh duy nhất: `docker compose up -d` là toàn bộ hệ thống sẵn sàng hoạt động.</a:t>
            </a:r>
          </a:p>
        </p:txBody>
      </p:sp>
      <p:sp>
        <p:nvSpPr>
          <p:cNvPr id="8" name="TextBox 7"/>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29                          LIBRARY BUS SYSTEM GUIDELINES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274320"/>
          </a:xfrm>
          <a:prstGeom prst="rect">
            <a:avLst/>
          </a:prstGeom>
          <a:noFill/>
        </p:spPr>
        <p:txBody>
          <a:bodyPr wrap="none">
            <a:spAutoFit/>
          </a:bodyPr>
          <a:lstStyle/>
          <a:p>
            <a:pPr>
              <a:defRPr sz="900" b="1">
                <a:solidFill>
                  <a:srgbClr val="64748B"/>
                </a:solidFill>
              </a:defRPr>
            </a:pPr>
            <a:r>
              <a:t>PROJECT SUMMARY / CONCLUSION</a:t>
            </a:r>
          </a:p>
        </p:txBody>
      </p:sp>
      <p:sp>
        <p:nvSpPr>
          <p:cNvPr id="3" name="TextBox 2"/>
          <p:cNvSpPr txBox="1"/>
          <p:nvPr/>
        </p:nvSpPr>
        <p:spPr>
          <a:xfrm>
            <a:off x="731520" y="640080"/>
            <a:ext cx="10698480" cy="822960"/>
          </a:xfrm>
          <a:prstGeom prst="rect">
            <a:avLst/>
          </a:prstGeom>
          <a:noFill/>
        </p:spPr>
        <p:txBody>
          <a:bodyPr wrap="none">
            <a:spAutoFit/>
          </a:bodyPr>
          <a:lstStyle/>
          <a:p>
            <a:pPr>
              <a:defRPr sz="2000" b="1">
                <a:solidFill>
                  <a:srgbClr val="0F172A"/>
                </a:solidFill>
              </a:defRPr>
            </a:pPr>
            <a:r>
              <a:t>CONCLUSION &amp; Q&amp;A</a:t>
            </a:r>
          </a:p>
          <a:p>
            <a:pPr>
              <a:defRPr sz="1100">
                <a:solidFill>
                  <a:srgbClr val="64748B"/>
                </a:solidFill>
              </a:defRPr>
            </a:pPr>
            <a:r>
              <a:t>/Tổng kết dự án &amp; Phiên thảo luận/</a:t>
            </a:r>
          </a:p>
        </p:txBody>
      </p:sp>
      <p:sp>
        <p:nvSpPr>
          <p:cNvPr id="4" name="Rounded Rectangle 3"/>
          <p:cNvSpPr/>
          <p:nvPr/>
        </p:nvSpPr>
        <p:spPr>
          <a:xfrm>
            <a:off x="731520" y="1645920"/>
            <a:ext cx="106984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10149840" cy="4023360"/>
          </a:xfrm>
          <a:prstGeom prst="rect">
            <a:avLst/>
          </a:prstGeom>
          <a:noFill/>
        </p:spPr>
        <p:txBody>
          <a:bodyPr wrap="square">
            <a:spAutoFit/>
          </a:bodyPr>
          <a:lstStyle/>
          <a:p>
            <a:pPr>
              <a:spcAft>
                <a:spcPts val="1000"/>
              </a:spcAft>
              <a:defRPr sz="1200" b="1">
                <a:solidFill>
                  <a:srgbClr val="273272"/>
                </a:solidFill>
              </a:defRPr>
            </a:pPr>
            <a:r>
              <a:t>NỘI DUNG CHI TIẾT ĐẶC TẢ:</a:t>
            </a:r>
          </a:p>
          <a:p>
            <a:pPr>
              <a:spcAft>
                <a:spcPts val="1000"/>
              </a:spcAft>
              <a:defRPr sz="1200" b="1"/>
            </a:pPr>
            <a:r>
              <a:t>Dự án Tủ Sách Lưu Động đã hoàn thiện toàn diện từ phân tích kiến trúc Monolith 7 lớp đến hệ thống thiết kế Neo-Bakery ấm áp và quy trình xử lý giao dịch tin cậy.</a:t>
            </a:r>
          </a:p>
          <a:p>
            <a:pPr>
              <a:defRPr sz="1100"/>
            </a:pPr>
            <a:r>
              <a:t>• Kiến trúc chuẩn hóa: 235 tệp mã nguồn liên kết chặt chẽ, 100% không có tệp cô lập.</a:t>
            </a:r>
          </a:p>
          <a:p>
            <a:pPr>
              <a:defRPr sz="1100"/>
            </a:pPr>
            <a:r>
              <a:t>• Trải nghiệm độc giả vượt trội: Đưa thư viện đến tận cổng trường học, xóa bỏ rào cản địa lý.</a:t>
            </a:r>
          </a:p>
          <a:p>
            <a:pPr>
              <a:defRPr sz="1100"/>
            </a:pPr>
            <a:r>
              <a:t>• Tài nguyên bàn giao: Dashboard tương tác (understand_dashboard.html), Toàn bộ mã nguồn và Bộ tài liệu thuyết trình chuẩn mực.</a:t>
            </a:r>
          </a:p>
          <a:p>
            <a:br/>
            <a:pPr>
              <a:defRPr sz="1400" b="1">
                <a:solidFill>
                  <a:srgbClr val="D97706"/>
                </a:solidFill>
              </a:defRPr>
            </a:pPr>
            <a:r>
              <a:t>CHÂN THÀNH CẢM ƠN QUÝ THẦY CÔ VÀ HỘI ĐỒNG ĐÃ LẮNG NGHE!</a:t>
            </a:r>
          </a:p>
        </p:txBody>
      </p:sp>
      <p:sp>
        <p:nvSpPr>
          <p:cNvPr id="6" name="TextBox 5"/>
          <p:cNvSpPr txBox="1"/>
          <p:nvPr/>
        </p:nvSpPr>
        <p:spPr>
          <a:xfrm>
            <a:off x="731520" y="6217920"/>
            <a:ext cx="10698480" cy="365760"/>
          </a:xfrm>
          <a:prstGeom prst="rect">
            <a:avLst/>
          </a:prstGeom>
          <a:noFill/>
        </p:spPr>
        <p:txBody>
          <a:bodyPr wrap="none">
            <a:spAutoFit/>
          </a:bodyPr>
          <a:lstStyle/>
          <a:p>
            <a:pPr>
              <a:defRPr sz="900">
                <a:solidFill>
                  <a:srgbClr val="64748B"/>
                </a:solidFill>
              </a:defRPr>
            </a:pPr>
            <a:r>
              <a:t>Library Bus Guidelines 30                          LIBRARY BUS SYSTEM GUIDELINES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