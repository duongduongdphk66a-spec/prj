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240C0B"/>
          </a:solidFill>
          <a:ln w="15240">
            <a:solidFill>
              <a:srgbClr val="BD5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188720"/>
            <a:ext cx="5486400" cy="365760"/>
          </a:xfrm>
          <a:prstGeom prst="rect">
            <a:avLst/>
          </a:prstGeom>
          <a:noFill/>
        </p:spPr>
        <p:txBody>
          <a:bodyPr wrap="none">
            <a:spAutoFit/>
          </a:bodyPr>
          <a:lstStyle/>
          <a:p>
            <a:pPr>
              <a:defRPr sz="1100" b="1">
                <a:solidFill>
                  <a:srgbClr val="ED9040"/>
                </a:solidFill>
                <a:latin typeface="Arial"/>
              </a:defRPr>
            </a:pPr>
            <a:r>
              <a:t>KIẾN TRÚC HỆ THỐNG PHÂN HỆ CAO CẤP • MODULAR MONOLITH</a:t>
            </a:r>
          </a:p>
        </p:txBody>
      </p:sp>
      <p:sp>
        <p:nvSpPr>
          <p:cNvPr id="4" name="TextBox 3"/>
          <p:cNvSpPr txBox="1"/>
          <p:nvPr/>
        </p:nvSpPr>
        <p:spPr>
          <a:xfrm>
            <a:off x="1188720" y="1645920"/>
            <a:ext cx="9601200" cy="1645920"/>
          </a:xfrm>
          <a:prstGeom prst="rect">
            <a:avLst/>
          </a:prstGeom>
          <a:noFill/>
        </p:spPr>
        <p:txBody>
          <a:bodyPr wrap="square">
            <a:spAutoFit/>
          </a:bodyPr>
          <a:lstStyle/>
          <a:p>
            <a:pPr>
              <a:defRPr sz="3600" b="1">
                <a:solidFill>
                  <a:srgbClr val="FFFDF9"/>
                </a:solidFill>
                <a:latin typeface="Georgia"/>
              </a:defRPr>
            </a:pPr>
            <a:r>
              <a:t>TỦ SÁCH LƯU ĐỘNG</a:t>
            </a:r>
            <a:br/>
            <a:r>
              <a:t>LIBRARY BUS SYSTEM</a:t>
            </a:r>
          </a:p>
        </p:txBody>
      </p:sp>
      <p:sp>
        <p:nvSpPr>
          <p:cNvPr id="5" name="TextBox 4"/>
          <p:cNvSpPr txBox="1"/>
          <p:nvPr/>
        </p:nvSpPr>
        <p:spPr>
          <a:xfrm>
            <a:off x="1188720" y="3383280"/>
            <a:ext cx="9144000" cy="731520"/>
          </a:xfrm>
          <a:prstGeom prst="rect">
            <a:avLst/>
          </a:prstGeom>
          <a:noFill/>
        </p:spPr>
        <p:txBody>
          <a:bodyPr wrap="square">
            <a:spAutoFit/>
          </a:bodyPr>
          <a:lstStyle/>
          <a:p>
            <a:pPr>
              <a:defRPr sz="1500">
                <a:solidFill>
                  <a:srgbClr val="FFC270"/>
                </a:solidFill>
                <a:latin typeface="Arial"/>
              </a:defRPr>
            </a:pPr>
            <a:r>
              <a:t>Nền Tảng Quản Lý, Điều Phối &amp; Phân Phối Sách Qua Mạng Lưới Xe Bus Thông Minh</a:t>
            </a:r>
          </a:p>
        </p:txBody>
      </p:sp>
      <p:sp>
        <p:nvSpPr>
          <p:cNvPr id="6" name="TextBox 5"/>
          <p:cNvSpPr txBox="1"/>
          <p:nvPr/>
        </p:nvSpPr>
        <p:spPr>
          <a:xfrm>
            <a:off x="1188720" y="4937760"/>
            <a:ext cx="9144000" cy="457200"/>
          </a:xfrm>
          <a:prstGeom prst="rect">
            <a:avLst/>
          </a:prstGeom>
          <a:noFill/>
        </p:spPr>
        <p:txBody>
          <a:bodyPr wrap="none">
            <a:spAutoFit/>
          </a:bodyPr>
          <a:lstStyle/>
          <a:p>
            <a:pPr>
              <a:defRPr sz="1200" b="1">
                <a:solidFill>
                  <a:srgbClr val="FDE971"/>
                </a:solidFill>
                <a:latin typeface="Consolas"/>
              </a:defRPr>
            </a:pPr>
            <a:r>
              <a:t>Django 5.2.4  |  MySQL 8.0  |  Redis 7  |  Celery 5.5  |  Gemini AI  |  GSAP 60FPS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TỔNG QUAN DỰ ÁN</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Sứ Mệnh &amp; Trụ Cột Vận Hành Nền Tảng</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02 / 12</a:t>
            </a:r>
          </a:p>
        </p:txBody>
      </p:sp>
      <p:sp>
        <p:nvSpPr>
          <p:cNvPr id="5" name="Rounded Rectangle 4"/>
          <p:cNvSpPr/>
          <p:nvPr/>
        </p:nvSpPr>
        <p:spPr>
          <a:xfrm>
            <a:off x="731520" y="1463040"/>
            <a:ext cx="3413455" cy="466344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3413455" cy="73152"/>
          </a:xfrm>
          <a:prstGeom prst="rect">
            <a:avLst/>
          </a:prstGeom>
          <a:solidFill>
            <a:srgbClr val="BD5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2956255" cy="4114800"/>
          </a:xfrm>
          <a:prstGeom prst="rect">
            <a:avLst/>
          </a:prstGeom>
          <a:noFill/>
        </p:spPr>
        <p:txBody>
          <a:bodyPr wrap="square">
            <a:spAutoFit/>
          </a:bodyPr>
          <a:lstStyle/>
          <a:p>
            <a:pPr>
              <a:defRPr sz="1000" b="1">
                <a:solidFill>
                  <a:srgbClr val="BD5705"/>
                </a:solidFill>
                <a:latin typeface="Arial"/>
              </a:defRPr>
            </a:pPr>
            <a:r>
              <a:t>TRỤ CỘT 01</a:t>
            </a:r>
          </a:p>
          <a:p>
            <a:pPr>
              <a:spcBef>
                <a:spcPts val="800"/>
              </a:spcBef>
              <a:spcAft>
                <a:spcPts val="1400"/>
              </a:spcAft>
              <a:defRPr sz="1600" b="1">
                <a:solidFill>
                  <a:srgbClr val="FFFDF9"/>
                </a:solidFill>
                <a:latin typeface="Georgia"/>
              </a:defRPr>
            </a:pPr>
            <a:r>
              <a:t>Mạng Lưới Xe Bus &amp; Trạm Dừng GPS</a:t>
            </a:r>
          </a:p>
          <a:p>
            <a:pPr>
              <a:lnSpc>
                <a:spcPct val="130000"/>
              </a:lnSpc>
              <a:defRPr sz="1200">
                <a:solidFill>
                  <a:srgbClr val="F5E6E0"/>
                </a:solidFill>
                <a:latin typeface="Arial"/>
              </a:defRPr>
            </a:pPr>
            <a:r>
              <a:t>Đưa sách giấy và tri thức đến tận tay độc giả tại các trường học, khu dân cư ngoại thành thông qua đội xe thư viện lưu động trang bị định vị GPS thời gian thực.</a:t>
            </a:r>
          </a:p>
        </p:txBody>
      </p:sp>
      <p:sp>
        <p:nvSpPr>
          <p:cNvPr id="8" name="Rounded Rectangle 7"/>
          <p:cNvSpPr/>
          <p:nvPr/>
        </p:nvSpPr>
        <p:spPr>
          <a:xfrm>
            <a:off x="4389120" y="1463040"/>
            <a:ext cx="3413455" cy="466344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463040"/>
            <a:ext cx="3413455" cy="73152"/>
          </a:xfrm>
          <a:prstGeom prst="rect">
            <a:avLst/>
          </a:prstGeom>
          <a:solidFill>
            <a:srgbClr val="ED9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737360"/>
            <a:ext cx="2956255" cy="4114800"/>
          </a:xfrm>
          <a:prstGeom prst="rect">
            <a:avLst/>
          </a:prstGeom>
          <a:noFill/>
        </p:spPr>
        <p:txBody>
          <a:bodyPr wrap="square">
            <a:spAutoFit/>
          </a:bodyPr>
          <a:lstStyle/>
          <a:p>
            <a:pPr>
              <a:defRPr sz="1000" b="1">
                <a:solidFill>
                  <a:srgbClr val="ED9040"/>
                </a:solidFill>
                <a:latin typeface="Arial"/>
              </a:defRPr>
            </a:pPr>
            <a:r>
              <a:t>TRỤ CỘT 02</a:t>
            </a:r>
          </a:p>
          <a:p>
            <a:pPr>
              <a:spcBef>
                <a:spcPts val="800"/>
              </a:spcBef>
              <a:spcAft>
                <a:spcPts val="1400"/>
              </a:spcAft>
              <a:defRPr sz="1600" b="1">
                <a:solidFill>
                  <a:srgbClr val="FFFDF9"/>
                </a:solidFill>
                <a:latin typeface="Georgia"/>
              </a:defRPr>
            </a:pPr>
            <a:r>
              <a:t>Nền Tảng Số Hóa Mượn Trả Toàn Diện</a:t>
            </a:r>
          </a:p>
          <a:p>
            <a:pPr>
              <a:lnSpc>
                <a:spcPct val="130000"/>
              </a:lnSpc>
              <a:defRPr sz="1200">
                <a:solidFill>
                  <a:srgbClr val="F5E6E0"/>
                </a:solidFill>
                <a:latin typeface="Arial"/>
              </a:defRPr>
            </a:pPr>
            <a:r>
              <a:t>Quản lý kho sách kép (sách giấy &amp; PDF viewer), cơ chế đặt trước hàng đợi FIFO, bảo mật giao dịch với khóa bi quan select_for_update chống race-condition tuyệt đối.</a:t>
            </a:r>
          </a:p>
        </p:txBody>
      </p:sp>
      <p:sp>
        <p:nvSpPr>
          <p:cNvPr id="11" name="Rounded Rectangle 10"/>
          <p:cNvSpPr/>
          <p:nvPr/>
        </p:nvSpPr>
        <p:spPr>
          <a:xfrm>
            <a:off x="8046720" y="1463040"/>
            <a:ext cx="3413455" cy="466344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463040"/>
            <a:ext cx="3413455" cy="73152"/>
          </a:xfrm>
          <a:prstGeom prst="rect">
            <a:avLst/>
          </a:prstGeom>
          <a:solidFill>
            <a:srgbClr val="FFC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737360"/>
            <a:ext cx="2956255" cy="4114800"/>
          </a:xfrm>
          <a:prstGeom prst="rect">
            <a:avLst/>
          </a:prstGeom>
          <a:noFill/>
        </p:spPr>
        <p:txBody>
          <a:bodyPr wrap="square">
            <a:spAutoFit/>
          </a:bodyPr>
          <a:lstStyle/>
          <a:p>
            <a:pPr>
              <a:defRPr sz="1000" b="1">
                <a:solidFill>
                  <a:srgbClr val="FFC270"/>
                </a:solidFill>
                <a:latin typeface="Arial"/>
              </a:defRPr>
            </a:pPr>
            <a:r>
              <a:t>TRỤ CỘT 03</a:t>
            </a:r>
          </a:p>
          <a:p>
            <a:pPr>
              <a:spcBef>
                <a:spcPts val="800"/>
              </a:spcBef>
              <a:spcAft>
                <a:spcPts val="1400"/>
              </a:spcAft>
              <a:defRPr sz="1600" b="1">
                <a:solidFill>
                  <a:srgbClr val="FFFDF9"/>
                </a:solidFill>
                <a:latin typeface="Georgia"/>
              </a:defRPr>
            </a:pPr>
            <a:r>
              <a:t>Trí Tuệ Nhân Tạo &amp; Phân Tích Thông Minh</a:t>
            </a:r>
          </a:p>
          <a:p>
            <a:pPr>
              <a:lnSpc>
                <a:spcPct val="130000"/>
              </a:lnSpc>
              <a:defRPr sz="1200">
                <a:solidFill>
                  <a:srgbClr val="F5E6E0"/>
                </a:solidFill>
                <a:latin typeface="Arial"/>
              </a:defRPr>
            </a:pPr>
            <a:r>
              <a:t>Tích hợp Google Gemini AI tự động trích xuất metadata từ bìa sách, tóm tắt nội dung và thuật toán gợi ý đầu sách cá nhân hóa theo thói quen của từng độc giả.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CÔNG NGHỆ NỀN TẢNG</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Kiến Trúc Công Nghệ Hiện Đại &amp; Đáng Tin Cậy</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03 / 12</a:t>
            </a:r>
          </a:p>
        </p:txBody>
      </p:sp>
      <p:sp>
        <p:nvSpPr>
          <p:cNvPr id="5" name="Rounded Rectangle 4"/>
          <p:cNvSpPr/>
          <p:nvPr/>
        </p:nvSpPr>
        <p:spPr>
          <a:xfrm>
            <a:off x="731520" y="146304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47695" cy="1737360"/>
          </a:xfrm>
          <a:prstGeom prst="rect">
            <a:avLst/>
          </a:prstGeom>
          <a:noFill/>
        </p:spPr>
        <p:txBody>
          <a:bodyPr wrap="square">
            <a:spAutoFit/>
          </a:bodyPr>
          <a:lstStyle/>
          <a:p>
            <a:pPr>
              <a:defRPr sz="900" b="1">
                <a:solidFill>
                  <a:srgbClr val="ED9040"/>
                </a:solidFill>
                <a:latin typeface="Arial"/>
              </a:defRPr>
            </a:pPr>
            <a:r>
              <a:t>BACKEND CORE</a:t>
            </a:r>
          </a:p>
          <a:p>
            <a:pPr>
              <a:spcBef>
                <a:spcPts val="300"/>
              </a:spcBef>
              <a:spcAft>
                <a:spcPts val="600"/>
              </a:spcAft>
              <a:defRPr sz="1400" b="1">
                <a:solidFill>
                  <a:srgbClr val="FDE971"/>
                </a:solidFill>
                <a:latin typeface="Georgia"/>
              </a:defRPr>
            </a:pPr>
            <a:r>
              <a:t>Django 5.2.4 (Python 3.11+)</a:t>
            </a:r>
          </a:p>
          <a:p>
            <a:pPr>
              <a:lnSpc>
                <a:spcPct val="120000"/>
              </a:lnSpc>
              <a:defRPr sz="1100">
                <a:solidFill>
                  <a:srgbClr val="F5E6E0"/>
                </a:solidFill>
                <a:latin typeface="Arial"/>
              </a:defRPr>
            </a:pPr>
            <a:r>
              <a:t>Mô hình Modular Monolith chia 7 domain biệt lập, cấu trúc ORM chuẩn 3NF, kế thừa Audit &amp; SoftDelete.</a:t>
            </a:r>
          </a:p>
        </p:txBody>
      </p:sp>
      <p:sp>
        <p:nvSpPr>
          <p:cNvPr id="7" name="Rounded Rectangle 6"/>
          <p:cNvSpPr/>
          <p:nvPr/>
        </p:nvSpPr>
        <p:spPr>
          <a:xfrm>
            <a:off x="4389120" y="146304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47695" cy="1737360"/>
          </a:xfrm>
          <a:prstGeom prst="rect">
            <a:avLst/>
          </a:prstGeom>
          <a:noFill/>
        </p:spPr>
        <p:txBody>
          <a:bodyPr wrap="square">
            <a:spAutoFit/>
          </a:bodyPr>
          <a:lstStyle/>
          <a:p>
            <a:pPr>
              <a:defRPr sz="900" b="1">
                <a:solidFill>
                  <a:srgbClr val="ED9040"/>
                </a:solidFill>
                <a:latin typeface="Arial"/>
              </a:defRPr>
            </a:pPr>
            <a:r>
              <a:t>DATABASE PRIMARY</a:t>
            </a:r>
          </a:p>
          <a:p>
            <a:pPr>
              <a:spcBef>
                <a:spcPts val="300"/>
              </a:spcBef>
              <a:spcAft>
                <a:spcPts val="600"/>
              </a:spcAft>
              <a:defRPr sz="1400" b="1">
                <a:solidFill>
                  <a:srgbClr val="FDE971"/>
                </a:solidFill>
                <a:latin typeface="Georgia"/>
              </a:defRPr>
            </a:pPr>
            <a:r>
              <a:t>MySQL 8.0 Engine</a:t>
            </a:r>
          </a:p>
          <a:p>
            <a:pPr>
              <a:lnSpc>
                <a:spcPct val="120000"/>
              </a:lnSpc>
              <a:defRPr sz="1100">
                <a:solidFill>
                  <a:srgbClr val="F5E6E0"/>
                </a:solidFill>
                <a:latin typeface="Arial"/>
              </a:defRPr>
            </a:pPr>
            <a:r>
              <a:t>Lưu trữ dữ liệu quan hệ ACID, index chuyên biệt cho ISBN và route GPS, kết nối qua mysqlclient C-lib.</a:t>
            </a:r>
          </a:p>
        </p:txBody>
      </p:sp>
      <p:sp>
        <p:nvSpPr>
          <p:cNvPr id="9" name="Rounded Rectangle 8"/>
          <p:cNvSpPr/>
          <p:nvPr/>
        </p:nvSpPr>
        <p:spPr>
          <a:xfrm>
            <a:off x="8046720" y="146304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47695" cy="1737360"/>
          </a:xfrm>
          <a:prstGeom prst="rect">
            <a:avLst/>
          </a:prstGeom>
          <a:noFill/>
        </p:spPr>
        <p:txBody>
          <a:bodyPr wrap="square">
            <a:spAutoFit/>
          </a:bodyPr>
          <a:lstStyle/>
          <a:p>
            <a:pPr>
              <a:defRPr sz="900" b="1">
                <a:solidFill>
                  <a:srgbClr val="ED9040"/>
                </a:solidFill>
                <a:latin typeface="Arial"/>
              </a:defRPr>
            </a:pPr>
            <a:r>
              <a:t>CACHING &amp; BROKER</a:t>
            </a:r>
          </a:p>
          <a:p>
            <a:pPr>
              <a:spcBef>
                <a:spcPts val="300"/>
              </a:spcBef>
              <a:spcAft>
                <a:spcPts val="600"/>
              </a:spcAft>
              <a:defRPr sz="1400" b="1">
                <a:solidFill>
                  <a:srgbClr val="FDE971"/>
                </a:solidFill>
                <a:latin typeface="Georgia"/>
              </a:defRPr>
            </a:pPr>
            <a:r>
              <a:t>Redis 7.0 + hiredis</a:t>
            </a:r>
          </a:p>
          <a:p>
            <a:pPr>
              <a:lnSpc>
                <a:spcPct val="120000"/>
              </a:lnSpc>
              <a:defRPr sz="1100">
                <a:solidFill>
                  <a:srgbClr val="F5E6E0"/>
                </a:solidFill>
                <a:latin typeface="Arial"/>
              </a:defRPr>
            </a:pPr>
            <a:r>
              <a:t>Bộ nhớ đệm tốc độ microsecond, quản lý session, cache truy vấn nặng và làm message broker cho Celery.</a:t>
            </a:r>
          </a:p>
        </p:txBody>
      </p:sp>
      <p:sp>
        <p:nvSpPr>
          <p:cNvPr id="11" name="Rounded Rectangle 10"/>
          <p:cNvSpPr/>
          <p:nvPr/>
        </p:nvSpPr>
        <p:spPr>
          <a:xfrm>
            <a:off x="731520" y="384048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3047695" cy="1737360"/>
          </a:xfrm>
          <a:prstGeom prst="rect">
            <a:avLst/>
          </a:prstGeom>
          <a:noFill/>
        </p:spPr>
        <p:txBody>
          <a:bodyPr wrap="square">
            <a:spAutoFit/>
          </a:bodyPr>
          <a:lstStyle/>
          <a:p>
            <a:pPr>
              <a:defRPr sz="900" b="1">
                <a:solidFill>
                  <a:srgbClr val="ED9040"/>
                </a:solidFill>
                <a:latin typeface="Arial"/>
              </a:defRPr>
            </a:pPr>
            <a:r>
              <a:t>BACKGROUND TASKS</a:t>
            </a:r>
          </a:p>
          <a:p>
            <a:pPr>
              <a:spcBef>
                <a:spcPts val="300"/>
              </a:spcBef>
              <a:spcAft>
                <a:spcPts val="600"/>
              </a:spcAft>
              <a:defRPr sz="1400" b="1">
                <a:solidFill>
                  <a:srgbClr val="FDE971"/>
                </a:solidFill>
                <a:latin typeface="Georgia"/>
              </a:defRPr>
            </a:pPr>
            <a:r>
              <a:t>Celery 5.5 + Celery Beat</a:t>
            </a:r>
          </a:p>
          <a:p>
            <a:pPr>
              <a:lnSpc>
                <a:spcPct val="120000"/>
              </a:lnSpc>
              <a:defRPr sz="1100">
                <a:solidFill>
                  <a:srgbClr val="F5E6E0"/>
                </a:solidFill>
                <a:latin typeface="Arial"/>
              </a:defRPr>
            </a:pPr>
            <a:r>
              <a:t>Xử lý hàng đợi tác vụ bất đồng bộ, gửi email hàng loạt, định kỳ quét sách quá hạn và tính nợ phạt.</a:t>
            </a:r>
          </a:p>
        </p:txBody>
      </p:sp>
      <p:sp>
        <p:nvSpPr>
          <p:cNvPr id="13" name="Rounded Rectangle 12"/>
          <p:cNvSpPr/>
          <p:nvPr/>
        </p:nvSpPr>
        <p:spPr>
          <a:xfrm>
            <a:off x="4389120" y="384048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023360"/>
            <a:ext cx="3047695" cy="1737360"/>
          </a:xfrm>
          <a:prstGeom prst="rect">
            <a:avLst/>
          </a:prstGeom>
          <a:noFill/>
        </p:spPr>
        <p:txBody>
          <a:bodyPr wrap="square">
            <a:spAutoFit/>
          </a:bodyPr>
          <a:lstStyle/>
          <a:p>
            <a:pPr>
              <a:defRPr sz="900" b="1">
                <a:solidFill>
                  <a:srgbClr val="ED9040"/>
                </a:solidFill>
                <a:latin typeface="Arial"/>
              </a:defRPr>
            </a:pPr>
            <a:r>
              <a:t>AI INTEGRATION</a:t>
            </a:r>
          </a:p>
          <a:p>
            <a:pPr>
              <a:spcBef>
                <a:spcPts val="300"/>
              </a:spcBef>
              <a:spcAft>
                <a:spcPts val="600"/>
              </a:spcAft>
              <a:defRPr sz="1400" b="1">
                <a:solidFill>
                  <a:srgbClr val="FDE971"/>
                </a:solidFill>
                <a:latin typeface="Georgia"/>
              </a:defRPr>
            </a:pPr>
            <a:r>
              <a:t>Google Gemini AI Engine</a:t>
            </a:r>
          </a:p>
          <a:p>
            <a:pPr>
              <a:lnSpc>
                <a:spcPct val="120000"/>
              </a:lnSpc>
              <a:defRPr sz="1100">
                <a:solidFill>
                  <a:srgbClr val="F5E6E0"/>
                </a:solidFill>
                <a:latin typeface="Arial"/>
              </a:defRPr>
            </a:pPr>
            <a:r>
              <a:t>Phân tích nội dung, trích xuất tóm tắt và metadata từ bìa sách, cá nhân hóa đề xuất sách độc giả.</a:t>
            </a:r>
          </a:p>
        </p:txBody>
      </p:sp>
      <p:sp>
        <p:nvSpPr>
          <p:cNvPr id="15" name="Rounded Rectangle 14"/>
          <p:cNvSpPr/>
          <p:nvPr/>
        </p:nvSpPr>
        <p:spPr>
          <a:xfrm>
            <a:off x="8046720" y="3840480"/>
            <a:ext cx="34134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4023360"/>
            <a:ext cx="3047695" cy="1737360"/>
          </a:xfrm>
          <a:prstGeom prst="rect">
            <a:avLst/>
          </a:prstGeom>
          <a:noFill/>
        </p:spPr>
        <p:txBody>
          <a:bodyPr wrap="square">
            <a:spAutoFit/>
          </a:bodyPr>
          <a:lstStyle/>
          <a:p>
            <a:pPr>
              <a:defRPr sz="900" b="1">
                <a:solidFill>
                  <a:srgbClr val="ED9040"/>
                </a:solidFill>
                <a:latin typeface="Arial"/>
              </a:defRPr>
            </a:pPr>
            <a:r>
              <a:t>SECURITY &amp; UI</a:t>
            </a:r>
          </a:p>
          <a:p>
            <a:pPr>
              <a:spcBef>
                <a:spcPts val="300"/>
              </a:spcBef>
              <a:spcAft>
                <a:spcPts val="600"/>
              </a:spcAft>
              <a:defRPr sz="1400" b="1">
                <a:solidFill>
                  <a:srgbClr val="FDE971"/>
                </a:solidFill>
                <a:latin typeface="Georgia"/>
              </a:defRPr>
            </a:pPr>
            <a:r>
              <a:t>Argon2 + Neo-Bakery GSAP</a:t>
            </a:r>
          </a:p>
          <a:p>
            <a:pPr>
              <a:lnSpc>
                <a:spcPct val="120000"/>
              </a:lnSpc>
              <a:defRPr sz="1100">
                <a:solidFill>
                  <a:srgbClr val="F5E6E0"/>
                </a:solidFill>
                <a:latin typeface="Arial"/>
              </a:defRPr>
            </a:pPr>
            <a:r>
              <a:t>Mã hóa mật khẩu Argon2 chống crack mật khẩu, hệ thống design tokens 6 tông ấm và GSAP 60 FPS.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KIẾN TRÚC HỆ THỐNG</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4 Tầng Kiến Trúc Độc Lập &amp; Bền Vững</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04 / 12</a:t>
            </a:r>
          </a:p>
        </p:txBody>
      </p:sp>
      <p:sp>
        <p:nvSpPr>
          <p:cNvPr id="5" name="Rounded Rectangle 4"/>
          <p:cNvSpPr/>
          <p:nvPr/>
        </p:nvSpPr>
        <p:spPr>
          <a:xfrm>
            <a:off x="731520" y="1463040"/>
            <a:ext cx="10728655" cy="1051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109728" cy="1051560"/>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00200"/>
            <a:ext cx="10058400" cy="777240"/>
          </a:xfrm>
          <a:prstGeom prst="rect">
            <a:avLst/>
          </a:prstGeom>
          <a:noFill/>
        </p:spPr>
        <p:txBody>
          <a:bodyPr wrap="square">
            <a:spAutoFit/>
          </a:bodyPr>
          <a:lstStyle/>
          <a:p>
            <a:pPr>
              <a:defRPr sz="1500" b="1">
                <a:solidFill>
                  <a:srgbClr val="60A5FA"/>
                </a:solidFill>
                <a:latin typeface="Georgia"/>
              </a:defRPr>
            </a:pPr>
            <a:r>
              <a:t>1. Tầng Trình Diễn (Presentation)</a:t>
            </a:r>
          </a:p>
          <a:p>
            <a:pPr>
              <a:spcBef>
                <a:spcPts val="300"/>
              </a:spcBef>
              <a:defRPr sz="1200">
                <a:solidFill>
                  <a:srgbClr val="F5E6E0"/>
                </a:solidFill>
                <a:latin typeface="Arial"/>
              </a:defRPr>
            </a:pPr>
            <a:r>
              <a:t>70+ Django HTML Templates, Tokens Neo-Bakery, Thư viện hoạt cảnh GSAP 3.x mượt mà 60 FPS, Jazzmin Admin.</a:t>
            </a:r>
          </a:p>
        </p:txBody>
      </p:sp>
      <p:sp>
        <p:nvSpPr>
          <p:cNvPr id="8" name="Rounded Rectangle 7"/>
          <p:cNvSpPr/>
          <p:nvPr/>
        </p:nvSpPr>
        <p:spPr>
          <a:xfrm>
            <a:off x="731520" y="2651760"/>
            <a:ext cx="10728655" cy="1051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651760"/>
            <a:ext cx="109728" cy="1051560"/>
          </a:xfrm>
          <a:prstGeom prst="rect">
            <a:avLst/>
          </a:prstGeom>
          <a:solidFill>
            <a:srgbClr val="ED9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788920"/>
            <a:ext cx="10058400" cy="777240"/>
          </a:xfrm>
          <a:prstGeom prst="rect">
            <a:avLst/>
          </a:prstGeom>
          <a:noFill/>
        </p:spPr>
        <p:txBody>
          <a:bodyPr wrap="square">
            <a:spAutoFit/>
          </a:bodyPr>
          <a:lstStyle/>
          <a:p>
            <a:pPr>
              <a:defRPr sz="1500" b="1">
                <a:solidFill>
                  <a:srgbClr val="ED9040"/>
                </a:solidFill>
                <a:latin typeface="Georgia"/>
              </a:defRPr>
            </a:pPr>
            <a:r>
              <a:t>2. Tầng Nghiệp Vụ &amp; Dịch Vụ (Services)</a:t>
            </a:r>
          </a:p>
          <a:p>
            <a:pPr>
              <a:spcBef>
                <a:spcPts val="300"/>
              </a:spcBef>
              <a:defRPr sz="1200">
                <a:solidFill>
                  <a:srgbClr val="F5E6E0"/>
                </a:solidFill>
                <a:latin typeface="Arial"/>
              </a:defRPr>
            </a:pPr>
            <a:r>
              <a:t>Service Layer độc lập, cơ chế khóa bi quan select_for_update, hàng đợi đặt trước FIFO, tích hợp Gemini AI.</a:t>
            </a:r>
          </a:p>
        </p:txBody>
      </p:sp>
      <p:sp>
        <p:nvSpPr>
          <p:cNvPr id="11" name="Rounded Rectangle 10"/>
          <p:cNvSpPr/>
          <p:nvPr/>
        </p:nvSpPr>
        <p:spPr>
          <a:xfrm>
            <a:off x="731520" y="3840480"/>
            <a:ext cx="10728655" cy="1051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840480"/>
            <a:ext cx="109728" cy="1051560"/>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977640"/>
            <a:ext cx="10058400" cy="777240"/>
          </a:xfrm>
          <a:prstGeom prst="rect">
            <a:avLst/>
          </a:prstGeom>
          <a:noFill/>
        </p:spPr>
        <p:txBody>
          <a:bodyPr wrap="square">
            <a:spAutoFit/>
          </a:bodyPr>
          <a:lstStyle/>
          <a:p>
            <a:pPr>
              <a:defRPr sz="1500" b="1">
                <a:solidFill>
                  <a:srgbClr val="C084FC"/>
                </a:solidFill>
                <a:latin typeface="Georgia"/>
              </a:defRPr>
            </a:pPr>
            <a:r>
              <a:t>3. Tầng Xử Lý Tác Vụ Nền (Celery Ecosystem)</a:t>
            </a:r>
          </a:p>
          <a:p>
            <a:pPr>
              <a:spcBef>
                <a:spcPts val="300"/>
              </a:spcBef>
              <a:defRPr sz="1200">
                <a:solidFill>
                  <a:srgbClr val="F5E6E0"/>
                </a:solidFill>
                <a:latin typeface="Arial"/>
              </a:defRPr>
            </a:pPr>
            <a:r>
              <a:t>Celery Worker xử lý song song gửi mail, tính toán phạt; Celery Beat chạy lịch quét tự động lúc nửa đêm.</a:t>
            </a:r>
          </a:p>
        </p:txBody>
      </p:sp>
      <p:sp>
        <p:nvSpPr>
          <p:cNvPr id="14" name="Rounded Rectangle 13"/>
          <p:cNvSpPr/>
          <p:nvPr/>
        </p:nvSpPr>
        <p:spPr>
          <a:xfrm>
            <a:off x="731520" y="5029200"/>
            <a:ext cx="10728655" cy="1051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29200"/>
            <a:ext cx="109728" cy="105156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166360"/>
            <a:ext cx="10058400" cy="777240"/>
          </a:xfrm>
          <a:prstGeom prst="rect">
            <a:avLst/>
          </a:prstGeom>
          <a:noFill/>
        </p:spPr>
        <p:txBody>
          <a:bodyPr wrap="square">
            <a:spAutoFit/>
          </a:bodyPr>
          <a:lstStyle/>
          <a:p>
            <a:pPr>
              <a:defRPr sz="1500" b="1">
                <a:solidFill>
                  <a:srgbClr val="34D399"/>
                </a:solidFill>
                <a:latin typeface="Georgia"/>
              </a:defRPr>
            </a:pPr>
            <a:r>
              <a:t>4. Tầng Dữ Liệu &amp; Bộ Nhớ Đệm (Storage &amp; Cache)</a:t>
            </a:r>
          </a:p>
          <a:p>
            <a:pPr>
              <a:spcBef>
                <a:spcPts val="300"/>
              </a:spcBef>
              <a:defRPr sz="1200">
                <a:solidFill>
                  <a:srgbClr val="F5E6E0"/>
                </a:solidFill>
                <a:latin typeface="Arial"/>
              </a:defRPr>
            </a:pPr>
            <a:r>
              <a:t>MySQL 8.0 lưu trữ bền vững với ACID, Redis 7 làm Cache tăng tốc truy vấn và broker truyền tin cậy.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PHÂN HỆ NGHIỆP VỤ</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Inventory App — Đội Xe Buýt, Trạm Dừng GPS &amp; Kho Sách</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05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ED9040"/>
                </a:solidFill>
                <a:latin typeface="Arial"/>
              </a:defRPr>
            </a:pPr>
            <a:r>
              <a:t>TÍNH NĂNG 01</a:t>
            </a:r>
          </a:p>
          <a:p>
            <a:pPr>
              <a:spcBef>
                <a:spcPts val="300"/>
              </a:spcBef>
              <a:spcAft>
                <a:spcPts val="600"/>
              </a:spcAft>
              <a:defRPr sz="1500" b="1">
                <a:solidFill>
                  <a:srgbClr val="FFFDF9"/>
                </a:solidFill>
                <a:latin typeface="Georgia"/>
              </a:defRPr>
            </a:pPr>
            <a:r>
              <a:t>Quản Lý Đội Xe Buýt</a:t>
            </a:r>
          </a:p>
          <a:p>
            <a:pPr>
              <a:lnSpc>
                <a:spcPct val="125000"/>
              </a:lnSpc>
              <a:defRPr sz="1100">
                <a:solidFill>
                  <a:srgbClr val="F5E6E0"/>
                </a:solidFill>
                <a:latin typeface="Arial"/>
              </a:defRPr>
            </a:pPr>
            <a:r>
              <a:t>LibraryBus Model theo dõi thông tin biển số, tải trọng, tài xế, sức chứa kệ sách và tình trạng hoạt động thực tế trên tuyến.</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ED9040"/>
                </a:solidFill>
                <a:latin typeface="Arial"/>
              </a:defRPr>
            </a:pPr>
            <a:r>
              <a:t>TÍNH NĂNG 02</a:t>
            </a:r>
          </a:p>
          <a:p>
            <a:pPr>
              <a:spcBef>
                <a:spcPts val="300"/>
              </a:spcBef>
              <a:spcAft>
                <a:spcPts val="600"/>
              </a:spcAft>
              <a:defRPr sz="1500" b="1">
                <a:solidFill>
                  <a:srgbClr val="FFFDF9"/>
                </a:solidFill>
                <a:latin typeface="Georgia"/>
              </a:defRPr>
            </a:pPr>
            <a:r>
              <a:t>Lộ Trình &amp; Trạm GPS</a:t>
            </a:r>
          </a:p>
          <a:p>
            <a:pPr>
              <a:lnSpc>
                <a:spcPct val="125000"/>
              </a:lnSpc>
              <a:defRPr sz="1100">
                <a:solidFill>
                  <a:srgbClr val="F5E6E0"/>
                </a:solidFill>
                <a:latin typeface="Arial"/>
              </a:defRPr>
            </a:pPr>
            <a:r>
              <a:t>BusRoute Model lưu trữ tọa độ GPS kinh độ/vĩ độ các trạm dừng tại trường học, khu dân cư với lịch trình cập nhật hàng tuần.</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ED9040"/>
                </a:solidFill>
                <a:latin typeface="Arial"/>
              </a:defRPr>
            </a:pPr>
            <a:r>
              <a:t>TÍNH NĂNG 03</a:t>
            </a:r>
          </a:p>
          <a:p>
            <a:pPr>
              <a:spcBef>
                <a:spcPts val="300"/>
              </a:spcBef>
              <a:spcAft>
                <a:spcPts val="600"/>
              </a:spcAft>
              <a:defRPr sz="1500" b="1">
                <a:solidFill>
                  <a:srgbClr val="FFFDF9"/>
                </a:solidFill>
                <a:latin typeface="Georgia"/>
              </a:defRPr>
            </a:pPr>
            <a:r>
              <a:t>Kho Sách Kép (Physical + PDF)</a:t>
            </a:r>
          </a:p>
          <a:p>
            <a:pPr>
              <a:lnSpc>
                <a:spcPct val="125000"/>
              </a:lnSpc>
              <a:defRPr sz="1100">
                <a:solidFill>
                  <a:srgbClr val="F5E6E0"/>
                </a:solidFill>
                <a:latin typeface="Arial"/>
              </a:defRPr>
            </a:pPr>
            <a:r>
              <a:t>Hỗ trợ quản lý song song sách giấy trên xe lưu động và trình đọc PDF Viewer trực tuyến, hơn 270 đầu sách phân loại đa cấp.</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ED9040"/>
                </a:solidFill>
                <a:latin typeface="Arial"/>
              </a:defRPr>
            </a:pPr>
            <a:r>
              <a:t>TÍNH NĂNG 04</a:t>
            </a:r>
          </a:p>
          <a:p>
            <a:pPr>
              <a:spcBef>
                <a:spcPts val="300"/>
              </a:spcBef>
              <a:spcAft>
                <a:spcPts val="600"/>
              </a:spcAft>
              <a:defRPr sz="1500" b="1">
                <a:solidFill>
                  <a:srgbClr val="FFFDF9"/>
                </a:solidFill>
                <a:latin typeface="Georgia"/>
              </a:defRPr>
            </a:pPr>
            <a:r>
              <a:t>Tiếp Nhận Sách Quyên Góp</a:t>
            </a:r>
          </a:p>
          <a:p>
            <a:pPr>
              <a:lnSpc>
                <a:spcPct val="125000"/>
              </a:lnSpc>
              <a:defRPr sz="1100">
                <a:solidFill>
                  <a:srgbClr val="F5E6E0"/>
                </a:solidFill>
                <a:latin typeface="Arial"/>
              </a:defRPr>
            </a:pPr>
            <a:r>
              <a:t>BookDonation Model cho phép cộng đồng và nhà hảo tâm đăng ký quyên góp sách, theo dõi quy trình kiểm định và số hóa.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PHÂN HỆ NGHIỆP VỤ</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Transactions App — Mượn Trả, Hàng Đợi FIFO &amp; Chống Tranh Chấp</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06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BD5705"/>
                </a:solidFill>
                <a:latin typeface="Arial"/>
              </a:defRPr>
            </a:pPr>
            <a:r>
              <a:t>CƠ CHẾ 01</a:t>
            </a:r>
          </a:p>
          <a:p>
            <a:pPr>
              <a:spcBef>
                <a:spcPts val="300"/>
              </a:spcBef>
              <a:spcAft>
                <a:spcPts val="600"/>
              </a:spcAft>
              <a:defRPr sz="1500" b="1">
                <a:solidFill>
                  <a:srgbClr val="FDE971"/>
                </a:solidFill>
                <a:latin typeface="Georgia"/>
              </a:defRPr>
            </a:pPr>
            <a:r>
              <a:t>Khóa Bi Quan (select_for_update)</a:t>
            </a:r>
          </a:p>
          <a:p>
            <a:pPr>
              <a:lnSpc>
                <a:spcPct val="125000"/>
              </a:lnSpc>
              <a:defRPr sz="1100">
                <a:solidFill>
                  <a:srgbClr val="F5E6E0"/>
                </a:solidFill>
                <a:latin typeface="Arial"/>
              </a:defRPr>
            </a:pPr>
            <a:r>
              <a:t>Áp dụng cơ chế khóa hàng ở cấp độ database trong Service Layer, triệt tiêu 100% rủi ro race-condition khi hàng trăm độc giả cùng mượn 1 cuốn sách trong cùng 1 tích tắc.</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BD5705"/>
                </a:solidFill>
                <a:latin typeface="Arial"/>
              </a:defRPr>
            </a:pPr>
            <a:r>
              <a:t>CƠ CHẾ 02</a:t>
            </a:r>
          </a:p>
          <a:p>
            <a:pPr>
              <a:spcBef>
                <a:spcPts val="300"/>
              </a:spcBef>
              <a:spcAft>
                <a:spcPts val="600"/>
              </a:spcAft>
              <a:defRPr sz="1500" b="1">
                <a:solidFill>
                  <a:srgbClr val="FDE971"/>
                </a:solidFill>
                <a:latin typeface="Georgia"/>
              </a:defRPr>
            </a:pPr>
            <a:r>
              <a:t>Hàng Đợi Đặt Trước Thông Minh (FIFO)</a:t>
            </a:r>
          </a:p>
          <a:p>
            <a:pPr>
              <a:lnSpc>
                <a:spcPct val="125000"/>
              </a:lnSpc>
              <a:defRPr sz="1100">
                <a:solidFill>
                  <a:srgbClr val="F5E6E0"/>
                </a:solidFill>
                <a:latin typeface="Arial"/>
              </a:defRPr>
            </a:pPr>
            <a:r>
              <a:t>Khi sách đã hết trên xe, độc giả đăng ký BookReservation; hệ thống tự động đưa vào hàng đợi FIFO và tự động kích hoạt quyền mượn ngay khi sách được trả về kho.</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BD5705"/>
                </a:solidFill>
                <a:latin typeface="Arial"/>
              </a:defRPr>
            </a:pPr>
            <a:r>
              <a:t>CƠ CHẾ 03</a:t>
            </a:r>
          </a:p>
          <a:p>
            <a:pPr>
              <a:spcBef>
                <a:spcPts val="300"/>
              </a:spcBef>
              <a:spcAft>
                <a:spcPts val="600"/>
              </a:spcAft>
              <a:defRPr sz="1500" b="1">
                <a:solidFill>
                  <a:srgbClr val="FDE971"/>
                </a:solidFill>
                <a:latin typeface="Georgia"/>
              </a:defRPr>
            </a:pPr>
            <a:r>
              <a:t>Quản Lý Phí Phạt &amp; Quá Hạn Tự Động</a:t>
            </a:r>
          </a:p>
          <a:p>
            <a:pPr>
              <a:lnSpc>
                <a:spcPct val="125000"/>
              </a:lnSpc>
              <a:defRPr sz="1100">
                <a:solidFill>
                  <a:srgbClr val="F5E6E0"/>
                </a:solidFill>
                <a:latin typeface="Arial"/>
              </a:defRPr>
            </a:pPr>
            <a:r>
              <a:t>Tích hợp Celery Beat định kỳ quét sách trễ hạn lúc 00:00 hàng ngày, tự động tạo bản ghi FinePayment với mức phí phạt lũy tiến theo số ngày quá hạn.</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BD5705"/>
                </a:solidFill>
                <a:latin typeface="Arial"/>
              </a:defRPr>
            </a:pPr>
            <a:r>
              <a:t>CƠ CHẾ 04</a:t>
            </a:r>
          </a:p>
          <a:p>
            <a:pPr>
              <a:spcBef>
                <a:spcPts val="300"/>
              </a:spcBef>
              <a:spcAft>
                <a:spcPts val="600"/>
              </a:spcAft>
              <a:defRPr sz="1500" b="1">
                <a:solidFill>
                  <a:srgbClr val="FDE971"/>
                </a:solidFill>
                <a:latin typeface="Georgia"/>
              </a:defRPr>
            </a:pPr>
            <a:r>
              <a:t>Dịch Vụ Giao Sách Tận Nhà (Shipping)</a:t>
            </a:r>
          </a:p>
          <a:p>
            <a:pPr>
              <a:lnSpc>
                <a:spcPct val="125000"/>
              </a:lnSpc>
              <a:defRPr sz="1100">
                <a:solidFill>
                  <a:srgbClr val="F5E6E0"/>
                </a:solidFill>
                <a:latin typeface="Arial"/>
              </a:defRPr>
            </a:pPr>
            <a:r>
              <a:t>ShippingRequest tích hợp cho phép độc giả hội viên VIP yêu cầu giao sách tận nhà hoặc tại điểm hẹn xe buýt gần nhất với mã vận đơn tracking.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PHÂN HỆ NGHIỆP VỤ</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Users App — Định Danh, Thẻ Hội Viên &amp; Xác Thực Argon2</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07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ED9040"/>
                </a:solidFill>
                <a:latin typeface="Arial"/>
              </a:defRPr>
            </a:pPr>
            <a:r>
              <a:t>MODULE 01</a:t>
            </a:r>
          </a:p>
          <a:p>
            <a:pPr>
              <a:spcBef>
                <a:spcPts val="300"/>
              </a:spcBef>
              <a:spcAft>
                <a:spcPts val="600"/>
              </a:spcAft>
              <a:defRPr sz="1500" b="1">
                <a:solidFill>
                  <a:srgbClr val="FFFDF9"/>
                </a:solidFill>
                <a:latin typeface="Georgia"/>
              </a:defRPr>
            </a:pPr>
            <a:r>
              <a:t>Bảo Mật Argon2 C-Accelerated</a:t>
            </a:r>
          </a:p>
          <a:p>
            <a:pPr>
              <a:lnSpc>
                <a:spcPct val="125000"/>
              </a:lnSpc>
              <a:defRPr sz="1100">
                <a:solidFill>
                  <a:srgbClr val="F5E6E0"/>
                </a:solidFill>
                <a:latin typeface="Arial"/>
              </a:defRPr>
            </a:pPr>
            <a:r>
              <a:t>Áp dụng thuật toán băm Argon2id hiện đại thay thế PBKDF2 mặc định, tối ưu khả năng chống tấn công brute-force GPU/ASIC.</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ED9040"/>
                </a:solidFill>
                <a:latin typeface="Arial"/>
              </a:defRPr>
            </a:pPr>
            <a:r>
              <a:t>MODULE 02</a:t>
            </a:r>
          </a:p>
          <a:p>
            <a:pPr>
              <a:spcBef>
                <a:spcPts val="300"/>
              </a:spcBef>
              <a:spcAft>
                <a:spcPts val="600"/>
              </a:spcAft>
              <a:defRPr sz="1500" b="1">
                <a:solidFill>
                  <a:srgbClr val="FFFDF9"/>
                </a:solidFill>
                <a:latin typeface="Georgia"/>
              </a:defRPr>
            </a:pPr>
            <a:r>
              <a:t>Phân Cấp Thẻ Hội Viên Độc Giả</a:t>
            </a:r>
          </a:p>
          <a:p>
            <a:pPr>
              <a:lnSpc>
                <a:spcPct val="125000"/>
              </a:lnSpc>
              <a:defRPr sz="1100">
                <a:solidFill>
                  <a:srgbClr val="F5E6E0"/>
                </a:solidFill>
                <a:latin typeface="Arial"/>
              </a:defRPr>
            </a:pPr>
            <a:r>
              <a:t>Hệ thống thẻ Standard, Silver, Gold, VIP; mỗi hạng thẻ quy định giới hạn số lượng sách mượn đồng thời (2-10 cuốn) và thời gian mượn (14-30 ngày).</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ED9040"/>
                </a:solidFill>
                <a:latin typeface="Arial"/>
              </a:defRPr>
            </a:pPr>
            <a:r>
              <a:t>MODULE 03</a:t>
            </a:r>
          </a:p>
          <a:p>
            <a:pPr>
              <a:spcBef>
                <a:spcPts val="300"/>
              </a:spcBef>
              <a:spcAft>
                <a:spcPts val="600"/>
              </a:spcAft>
              <a:defRPr sz="1500" b="1">
                <a:solidFill>
                  <a:srgbClr val="FFFDF9"/>
                </a:solidFill>
                <a:latin typeface="Georgia"/>
              </a:defRPr>
            </a:pPr>
            <a:r>
              <a:t>Truy Vết Lịch Sử Đăng Nhập</a:t>
            </a:r>
          </a:p>
          <a:p>
            <a:pPr>
              <a:lnSpc>
                <a:spcPct val="125000"/>
              </a:lnSpc>
              <a:defRPr sz="1100">
                <a:solidFill>
                  <a:srgbClr val="F5E6E0"/>
                </a:solidFill>
                <a:latin typeface="Arial"/>
              </a:defRPr>
            </a:pPr>
            <a:r>
              <a:t>LoginHistory tự động ghi nhận IP, trình duyệt (User-Agent parsing), phát hiện và cảnh báo các hành vi đăng nhập bất thường từ thiết bị lạ.</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ED9040"/>
                </a:solidFill>
                <a:latin typeface="Arial"/>
              </a:defRPr>
            </a:pPr>
            <a:r>
              <a:t>MODULE 04</a:t>
            </a:r>
          </a:p>
          <a:p>
            <a:pPr>
              <a:spcBef>
                <a:spcPts val="300"/>
              </a:spcBef>
              <a:spcAft>
                <a:spcPts val="600"/>
              </a:spcAft>
              <a:defRPr sz="1500" b="1">
                <a:solidFill>
                  <a:srgbClr val="FFFDF9"/>
                </a:solidFill>
                <a:latin typeface="Georgia"/>
              </a:defRPr>
            </a:pPr>
            <a:r>
              <a:t>Hồ Sơ Sở Thích &amp; Cá Nhân Hóa</a:t>
            </a:r>
          </a:p>
          <a:p>
            <a:pPr>
              <a:lnSpc>
                <a:spcPct val="125000"/>
              </a:lnSpc>
              <a:defRPr sz="1100">
                <a:solidFill>
                  <a:srgbClr val="F5E6E0"/>
                </a:solidFill>
                <a:latin typeface="Arial"/>
              </a:defRPr>
            </a:pPr>
            <a:r>
              <a:t>UserInterest và UserPreference lưu trữ chủ đề yêu thích, tùy chọn nhận thông báo và cấu hình giao diện đọc sách theo nhu cầu.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TRÍ TUỆ NHÂN TẠO</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Analytics App — Phân Tích Thói Quen Đọc &amp; Gemini AI</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08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C084FC"/>
                </a:solidFill>
                <a:latin typeface="Arial"/>
              </a:defRPr>
            </a:pPr>
            <a:r>
              <a:t>TÍNH NĂNG AI 01</a:t>
            </a:r>
          </a:p>
          <a:p>
            <a:pPr>
              <a:spcBef>
                <a:spcPts val="300"/>
              </a:spcBef>
              <a:spcAft>
                <a:spcPts val="600"/>
              </a:spcAft>
              <a:defRPr sz="1500" b="1">
                <a:solidFill>
                  <a:srgbClr val="FDE971"/>
                </a:solidFill>
                <a:latin typeface="Georgia"/>
              </a:defRPr>
            </a:pPr>
            <a:r>
              <a:t>Trích Xuất Metadata Tự Động (Gemini)</a:t>
            </a:r>
          </a:p>
          <a:p>
            <a:pPr>
              <a:lnSpc>
                <a:spcPct val="125000"/>
              </a:lnSpc>
              <a:defRPr sz="1100">
                <a:solidFill>
                  <a:srgbClr val="F5E6E0"/>
                </a:solidFill>
                <a:latin typeface="Arial"/>
              </a:defRPr>
            </a:pPr>
            <a:r>
              <a:t>Gemini AI phân tích bìa sách và mục lục, tự động nhận diện tác giả, nhà xuất bản, tóm tắt nội dung 100 từ và gán nhãn thể loại.</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C084FC"/>
                </a:solidFill>
                <a:latin typeface="Arial"/>
              </a:defRPr>
            </a:pPr>
            <a:r>
              <a:t>TÍNH NĂNG AI 02</a:t>
            </a:r>
          </a:p>
          <a:p>
            <a:pPr>
              <a:spcBef>
                <a:spcPts val="300"/>
              </a:spcBef>
              <a:spcAft>
                <a:spcPts val="600"/>
              </a:spcAft>
              <a:defRPr sz="1500" b="1">
                <a:solidFill>
                  <a:srgbClr val="FDE971"/>
                </a:solidFill>
                <a:latin typeface="Georgia"/>
              </a:defRPr>
            </a:pPr>
            <a:r>
              <a:t>Đề Xuất Sách Thông Minh (Recommender)</a:t>
            </a:r>
          </a:p>
          <a:p>
            <a:pPr>
              <a:lnSpc>
                <a:spcPct val="125000"/>
              </a:lnSpc>
              <a:defRPr sz="1100">
                <a:solidFill>
                  <a:srgbClr val="F5E6E0"/>
                </a:solidFill>
                <a:latin typeface="Arial"/>
              </a:defRPr>
            </a:pPr>
            <a:r>
              <a:t>Thuật toán gợi ý kết hợp lịch sử mượn, đánh giá 5 sao và sở thích của độc giả để đề xuất những tựa sách phù hợp nhất trên từng tuyến xe.</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C084FC"/>
                </a:solidFill>
                <a:latin typeface="Arial"/>
              </a:defRPr>
            </a:pPr>
            <a:r>
              <a:t>TÍNH NĂNG AI 03</a:t>
            </a:r>
          </a:p>
          <a:p>
            <a:pPr>
              <a:spcBef>
                <a:spcPts val="300"/>
              </a:spcBef>
              <a:spcAft>
                <a:spcPts val="600"/>
              </a:spcAft>
              <a:defRPr sz="1500" b="1">
                <a:solidFill>
                  <a:srgbClr val="FDE971"/>
                </a:solidFill>
                <a:latin typeface="Georgia"/>
              </a:defRPr>
            </a:pPr>
            <a:r>
              <a:t>Bảng Vàng Độc Giả (Leaderboard)</a:t>
            </a:r>
          </a:p>
          <a:p>
            <a:pPr>
              <a:lnSpc>
                <a:spcPct val="125000"/>
              </a:lnSpc>
              <a:defRPr sz="1100">
                <a:solidFill>
                  <a:srgbClr val="F5E6E0"/>
                </a:solidFill>
                <a:latin typeface="Arial"/>
              </a:defRPr>
            </a:pPr>
            <a:r>
              <a:t>Bảng xếp hạng tôn vinh những bạn đọc chăm chỉ nhất tuần/tháng, thúc đẩy phong trào đọc sách trong học sinh và cộng đồng dân cư.</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C084FC"/>
                </a:solidFill>
                <a:latin typeface="Arial"/>
              </a:defRPr>
            </a:pPr>
            <a:r>
              <a:t>TÍNH NĂNG AI 04</a:t>
            </a:r>
          </a:p>
          <a:p>
            <a:pPr>
              <a:spcBef>
                <a:spcPts val="300"/>
              </a:spcBef>
              <a:spcAft>
                <a:spcPts val="600"/>
              </a:spcAft>
              <a:defRPr sz="1500" b="1">
                <a:solidFill>
                  <a:srgbClr val="FDE971"/>
                </a:solidFill>
                <a:latin typeface="Georgia"/>
              </a:defRPr>
            </a:pPr>
            <a:r>
              <a:t>Phân Tích Tuyến Xe &amp; Điểm Dừng</a:t>
            </a:r>
          </a:p>
          <a:p>
            <a:pPr>
              <a:lnSpc>
                <a:spcPct val="125000"/>
              </a:lnSpc>
              <a:defRPr sz="1100">
                <a:solidFill>
                  <a:srgbClr val="F5E6E0"/>
                </a:solidFill>
                <a:latin typeface="Arial"/>
              </a:defRPr>
            </a:pPr>
            <a:r>
              <a:t>BusAnalytics thống kê lưu lượng bạn đọc, tỷ lệ mượn trả tại từng trạm dừng GPS, giúp điều phối lịch trình xe tối ưu theo nhu cầu thực tế.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TRUYỀN THÔNG &amp; TƯƠNG TÁC</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Blog &amp; Notifications — Kết Nối Độc Giả &amp; Lan Tỏa Văn Hóa Đọc</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09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34D399"/>
                </a:solidFill>
                <a:latin typeface="Arial"/>
              </a:defRPr>
            </a:pPr>
            <a:r>
              <a:t>TRUYỀN THÔNG 01</a:t>
            </a:r>
          </a:p>
          <a:p>
            <a:pPr>
              <a:spcBef>
                <a:spcPts val="300"/>
              </a:spcBef>
              <a:spcAft>
                <a:spcPts val="600"/>
              </a:spcAft>
              <a:defRPr sz="1500" b="1">
                <a:solidFill>
                  <a:srgbClr val="FFFDF9"/>
                </a:solidFill>
                <a:latin typeface="Georgia"/>
              </a:defRPr>
            </a:pPr>
            <a:r>
              <a:t>Cổng Tin Tức &amp; Review Sách</a:t>
            </a:r>
          </a:p>
          <a:p>
            <a:pPr>
              <a:lnSpc>
                <a:spcPct val="125000"/>
              </a:lnSpc>
              <a:defRPr sz="1100">
                <a:solidFill>
                  <a:srgbClr val="F5E6E0"/>
                </a:solidFill>
                <a:latin typeface="Arial"/>
              </a:defRPr>
            </a:pPr>
            <a:r>
              <a:t>Phân hệ Blog cung cấp bài viết giới thiệu tác phẩm mới, góc chia sẻ cảm nhận sách của độc giả và cập nhật lịch trình xe buýt hàng tuần.</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34D399"/>
                </a:solidFill>
                <a:latin typeface="Arial"/>
              </a:defRPr>
            </a:pPr>
            <a:r>
              <a:t>TRUYỀN THÔNG 02</a:t>
            </a:r>
          </a:p>
          <a:p>
            <a:pPr>
              <a:spcBef>
                <a:spcPts val="300"/>
              </a:spcBef>
              <a:spcAft>
                <a:spcPts val="600"/>
              </a:spcAft>
              <a:defRPr sz="1500" b="1">
                <a:solidFill>
                  <a:srgbClr val="FFFDF9"/>
                </a:solidFill>
                <a:latin typeface="Georgia"/>
              </a:defRPr>
            </a:pPr>
            <a:r>
              <a:t>Tương Tác Độc Giả Đa Dạng</a:t>
            </a:r>
          </a:p>
          <a:p>
            <a:pPr>
              <a:lnSpc>
                <a:spcPct val="125000"/>
              </a:lnSpc>
              <a:defRPr sz="1100">
                <a:solidFill>
                  <a:srgbClr val="F5E6E0"/>
                </a:solidFill>
                <a:latin typeface="Arial"/>
              </a:defRPr>
            </a:pPr>
            <a:r>
              <a:t>Hỗ trợ chấm điểm Rating 5 sao, gửi bình luận dưới bài viết, bấm thích (Like) và công cụ kiểm duyệt báo cáo vi phạm tiêu chuẩn cộng đồng.</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34D399"/>
                </a:solidFill>
                <a:latin typeface="Arial"/>
              </a:defRPr>
            </a:pPr>
            <a:r>
              <a:t>TRUYỀN THÔNG 03</a:t>
            </a:r>
          </a:p>
          <a:p>
            <a:pPr>
              <a:spcBef>
                <a:spcPts val="300"/>
              </a:spcBef>
              <a:spcAft>
                <a:spcPts val="600"/>
              </a:spcAft>
              <a:defRPr sz="1500" b="1">
                <a:solidFill>
                  <a:srgbClr val="FFFDF9"/>
                </a:solidFill>
                <a:latin typeface="Georgia"/>
              </a:defRPr>
            </a:pPr>
            <a:r>
              <a:t>Thông Báo Đẩy Thời Gian Thực</a:t>
            </a:r>
          </a:p>
          <a:p>
            <a:pPr>
              <a:lnSpc>
                <a:spcPct val="125000"/>
              </a:lnSpc>
              <a:defRPr sz="1100">
                <a:solidFill>
                  <a:srgbClr val="F5E6E0"/>
                </a:solidFill>
                <a:latin typeface="Arial"/>
              </a:defRPr>
            </a:pPr>
            <a:r>
              <a:t>Hệ thống In-App Notification Badge tự động đếm thông báo chưa đọc, hiển thị pop-up khi xe buýt chuẩn bị ghé trạm gần nhà độc giả.</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34D399"/>
                </a:solidFill>
                <a:latin typeface="Arial"/>
              </a:defRPr>
            </a:pPr>
            <a:r>
              <a:t>TRUYỀN THÔNG 04</a:t>
            </a:r>
          </a:p>
          <a:p>
            <a:pPr>
              <a:spcBef>
                <a:spcPts val="300"/>
              </a:spcBef>
              <a:spcAft>
                <a:spcPts val="600"/>
              </a:spcAft>
              <a:defRPr sz="1500" b="1">
                <a:solidFill>
                  <a:srgbClr val="FFFDF9"/>
                </a:solidFill>
                <a:latin typeface="Georgia"/>
              </a:defRPr>
            </a:pPr>
            <a:r>
              <a:t>Tự Động Gửi Email Định Kỳ</a:t>
            </a:r>
          </a:p>
          <a:p>
            <a:pPr>
              <a:lnSpc>
                <a:spcPct val="125000"/>
              </a:lnSpc>
              <a:defRPr sz="1100">
                <a:solidFill>
                  <a:srgbClr val="F5E6E0"/>
                </a:solidFill>
                <a:latin typeface="Arial"/>
              </a:defRPr>
            </a:pPr>
            <a:r>
              <a:t>Celery Tasks tự động gửi email xác nhận mượn sách, thư nhắc hẹn sắp đến ngày trả, thông báo có sách được trả và bản tin tuần.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THIẾT KẾ &amp; GIAO DIỆN</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Neo-Bakery Design System &amp; Hoạt Cảnh Chuẩn GSAP 60 FPS</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10 / 12</a:t>
            </a:r>
          </a:p>
        </p:txBody>
      </p:sp>
      <p:sp>
        <p:nvSpPr>
          <p:cNvPr id="5" name="Rounded Rectangle 4"/>
          <p:cNvSpPr/>
          <p:nvPr/>
        </p:nvSpPr>
        <p:spPr>
          <a:xfrm>
            <a:off x="731520"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1508760" cy="1828800"/>
          </a:xfrm>
          <a:prstGeom prst="rect">
            <a:avLst/>
          </a:prstGeom>
          <a:noFill/>
        </p:spPr>
        <p:txBody>
          <a:bodyPr wrap="square">
            <a:spAutoFit/>
          </a:bodyPr>
          <a:lstStyle/>
          <a:p>
            <a:pPr>
              <a:defRPr sz="900" b="1">
                <a:solidFill>
                  <a:srgbClr val="ED9040"/>
                </a:solidFill>
                <a:latin typeface="Arial"/>
              </a:defRPr>
            </a:pPr>
            <a:r>
              <a:t>TÔNG 1</a:t>
            </a:r>
          </a:p>
          <a:p>
            <a:pPr>
              <a:spcBef>
                <a:spcPts val="400"/>
              </a:spcBef>
              <a:defRPr sz="1300" b="1">
                <a:solidFill>
                  <a:srgbClr val="FFFDF9"/>
                </a:solidFill>
                <a:latin typeface="Georgia"/>
              </a:defRPr>
            </a:pPr>
            <a:r>
              <a:t>Molasses</a:t>
            </a:r>
          </a:p>
          <a:p>
            <a:pPr>
              <a:spcBef>
                <a:spcPts val="300"/>
              </a:spcBef>
              <a:defRPr sz="1000">
                <a:solidFill>
                  <a:srgbClr val="FDE971"/>
                </a:solidFill>
                <a:latin typeface="Arial"/>
              </a:defRPr>
            </a:pPr>
            <a:r>
              <a:t>Màu mực gỗ gụ sẫm</a:t>
            </a:r>
          </a:p>
          <a:p>
            <a:pPr>
              <a:spcBef>
                <a:spcPts val="400"/>
              </a:spcBef>
              <a:defRPr sz="900">
                <a:solidFill>
                  <a:srgbClr val="D1BDB7"/>
                </a:solidFill>
                <a:latin typeface="Arial"/>
              </a:defRPr>
            </a:pPr>
            <a:r>
              <a:t>Text chính &amp; Ground dark</a:t>
            </a:r>
          </a:p>
        </p:txBody>
      </p:sp>
      <p:sp>
        <p:nvSpPr>
          <p:cNvPr id="7" name="Rounded Rectangle 6"/>
          <p:cNvSpPr/>
          <p:nvPr/>
        </p:nvSpPr>
        <p:spPr>
          <a:xfrm>
            <a:off x="2514600"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6040" y="1645920"/>
            <a:ext cx="1508760" cy="1828800"/>
          </a:xfrm>
          <a:prstGeom prst="rect">
            <a:avLst/>
          </a:prstGeom>
          <a:noFill/>
        </p:spPr>
        <p:txBody>
          <a:bodyPr wrap="square">
            <a:spAutoFit/>
          </a:bodyPr>
          <a:lstStyle/>
          <a:p>
            <a:pPr>
              <a:defRPr sz="900" b="1">
                <a:solidFill>
                  <a:srgbClr val="ED9040"/>
                </a:solidFill>
                <a:latin typeface="Arial"/>
              </a:defRPr>
            </a:pPr>
            <a:r>
              <a:t>TÔNG 2</a:t>
            </a:r>
          </a:p>
          <a:p>
            <a:pPr>
              <a:spcBef>
                <a:spcPts val="400"/>
              </a:spcBef>
              <a:defRPr sz="1300" b="1">
                <a:solidFill>
                  <a:srgbClr val="FFFDF9"/>
                </a:solidFill>
                <a:latin typeface="Georgia"/>
              </a:defRPr>
            </a:pPr>
            <a:r>
              <a:t>Well-Browned</a:t>
            </a:r>
          </a:p>
          <a:p>
            <a:pPr>
              <a:spcBef>
                <a:spcPts val="300"/>
              </a:spcBef>
              <a:defRPr sz="1000">
                <a:solidFill>
                  <a:srgbClr val="FDE971"/>
                </a:solidFill>
                <a:latin typeface="Arial"/>
              </a:defRPr>
            </a:pPr>
            <a:r>
              <a:t>Màu hạt dẻ nướng</a:t>
            </a:r>
          </a:p>
          <a:p>
            <a:pPr>
              <a:spcBef>
                <a:spcPts val="400"/>
              </a:spcBef>
              <a:defRPr sz="900">
                <a:solidFill>
                  <a:srgbClr val="D1BDB7"/>
                </a:solidFill>
                <a:latin typeface="Arial"/>
              </a:defRPr>
            </a:pPr>
            <a:r>
              <a:t>Trạng thái Hover tương tác</a:t>
            </a:r>
          </a:p>
        </p:txBody>
      </p:sp>
      <p:sp>
        <p:nvSpPr>
          <p:cNvPr id="9" name="Rounded Rectangle 8"/>
          <p:cNvSpPr/>
          <p:nvPr/>
        </p:nvSpPr>
        <p:spPr>
          <a:xfrm>
            <a:off x="4297680"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0" y="1645920"/>
            <a:ext cx="1508760" cy="1828800"/>
          </a:xfrm>
          <a:prstGeom prst="rect">
            <a:avLst/>
          </a:prstGeom>
          <a:noFill/>
        </p:spPr>
        <p:txBody>
          <a:bodyPr wrap="square">
            <a:spAutoFit/>
          </a:bodyPr>
          <a:lstStyle/>
          <a:p>
            <a:pPr>
              <a:defRPr sz="900" b="1">
                <a:solidFill>
                  <a:srgbClr val="ED9040"/>
                </a:solidFill>
                <a:latin typeface="Arial"/>
              </a:defRPr>
            </a:pPr>
            <a:r>
              <a:t>TÔNG 3</a:t>
            </a:r>
          </a:p>
          <a:p>
            <a:pPr>
              <a:spcBef>
                <a:spcPts val="400"/>
              </a:spcBef>
              <a:defRPr sz="1300" b="1">
                <a:solidFill>
                  <a:srgbClr val="FFFDF9"/>
                </a:solidFill>
                <a:latin typeface="Georgia"/>
              </a:defRPr>
            </a:pPr>
            <a:r>
              <a:t>Roast</a:t>
            </a:r>
          </a:p>
          <a:p>
            <a:pPr>
              <a:spcBef>
                <a:spcPts val="300"/>
              </a:spcBef>
              <a:defRPr sz="1000">
                <a:solidFill>
                  <a:srgbClr val="FDE971"/>
                </a:solidFill>
                <a:latin typeface="Arial"/>
              </a:defRPr>
            </a:pPr>
            <a:r>
              <a:t>Caramel đồng nướng</a:t>
            </a:r>
          </a:p>
          <a:p>
            <a:pPr>
              <a:spcBef>
                <a:spcPts val="400"/>
              </a:spcBef>
              <a:defRPr sz="900">
                <a:solidFill>
                  <a:srgbClr val="D1BDB7"/>
                </a:solidFill>
                <a:latin typeface="Arial"/>
              </a:defRPr>
            </a:pPr>
            <a:r>
              <a:t>Nút hành động chính (CTA)</a:t>
            </a:r>
          </a:p>
        </p:txBody>
      </p:sp>
      <p:sp>
        <p:nvSpPr>
          <p:cNvPr id="11" name="Rounded Rectangle 10"/>
          <p:cNvSpPr/>
          <p:nvPr/>
        </p:nvSpPr>
        <p:spPr>
          <a:xfrm>
            <a:off x="6080759"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199" y="1645920"/>
            <a:ext cx="1508760" cy="1828800"/>
          </a:xfrm>
          <a:prstGeom prst="rect">
            <a:avLst/>
          </a:prstGeom>
          <a:noFill/>
        </p:spPr>
        <p:txBody>
          <a:bodyPr wrap="square">
            <a:spAutoFit/>
          </a:bodyPr>
          <a:lstStyle/>
          <a:p>
            <a:pPr>
              <a:defRPr sz="900" b="1">
                <a:solidFill>
                  <a:srgbClr val="ED9040"/>
                </a:solidFill>
                <a:latin typeface="Arial"/>
              </a:defRPr>
            </a:pPr>
            <a:r>
              <a:t>TÔNG 4</a:t>
            </a:r>
          </a:p>
          <a:p>
            <a:pPr>
              <a:spcBef>
                <a:spcPts val="400"/>
              </a:spcBef>
              <a:defRPr sz="1300" b="1">
                <a:solidFill>
                  <a:srgbClr val="FFFDF9"/>
                </a:solidFill>
                <a:latin typeface="Georgia"/>
              </a:defRPr>
            </a:pPr>
            <a:r>
              <a:t>Toasty</a:t>
            </a:r>
          </a:p>
          <a:p>
            <a:pPr>
              <a:spcBef>
                <a:spcPts val="300"/>
              </a:spcBef>
              <a:defRPr sz="1000">
                <a:solidFill>
                  <a:srgbClr val="FDE971"/>
                </a:solidFill>
                <a:latin typeface="Arial"/>
              </a:defRPr>
            </a:pPr>
            <a:r>
              <a:t>Hổ phách ấm rực rỡ</a:t>
            </a:r>
          </a:p>
          <a:p>
            <a:pPr>
              <a:spcBef>
                <a:spcPts val="400"/>
              </a:spcBef>
              <a:defRPr sz="900">
                <a:solidFill>
                  <a:srgbClr val="D1BDB7"/>
                </a:solidFill>
                <a:latin typeface="Arial"/>
              </a:defRPr>
            </a:pPr>
            <a:r>
              <a:t>Viền active &amp; Điểm nhấn sáng</a:t>
            </a:r>
          </a:p>
        </p:txBody>
      </p:sp>
      <p:sp>
        <p:nvSpPr>
          <p:cNvPr id="13" name="Rounded Rectangle 12"/>
          <p:cNvSpPr/>
          <p:nvPr/>
        </p:nvSpPr>
        <p:spPr>
          <a:xfrm>
            <a:off x="7863840"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0" y="1645920"/>
            <a:ext cx="1508760" cy="1828800"/>
          </a:xfrm>
          <a:prstGeom prst="rect">
            <a:avLst/>
          </a:prstGeom>
          <a:noFill/>
        </p:spPr>
        <p:txBody>
          <a:bodyPr wrap="square">
            <a:spAutoFit/>
          </a:bodyPr>
          <a:lstStyle/>
          <a:p>
            <a:pPr>
              <a:defRPr sz="900" b="1">
                <a:solidFill>
                  <a:srgbClr val="ED9040"/>
                </a:solidFill>
                <a:latin typeface="Arial"/>
              </a:defRPr>
            </a:pPr>
            <a:r>
              <a:t>TÔNG 5</a:t>
            </a:r>
          </a:p>
          <a:p>
            <a:pPr>
              <a:spcBef>
                <a:spcPts val="400"/>
              </a:spcBef>
              <a:defRPr sz="1300" b="1">
                <a:solidFill>
                  <a:srgbClr val="FFFDF9"/>
                </a:solidFill>
                <a:latin typeface="Georgia"/>
              </a:defRPr>
            </a:pPr>
            <a:r>
              <a:t>Greasey</a:t>
            </a:r>
          </a:p>
          <a:p>
            <a:pPr>
              <a:spcBef>
                <a:spcPts val="300"/>
              </a:spcBef>
              <a:defRPr sz="1000">
                <a:solidFill>
                  <a:srgbClr val="FDE971"/>
                </a:solidFill>
                <a:latin typeface="Arial"/>
              </a:defRPr>
            </a:pPr>
            <a:r>
              <a:t>Bơ mật ong ấm áp</a:t>
            </a:r>
          </a:p>
          <a:p>
            <a:pPr>
              <a:spcBef>
                <a:spcPts val="400"/>
              </a:spcBef>
              <a:defRPr sz="900">
                <a:solidFill>
                  <a:srgbClr val="D1BDB7"/>
                </a:solidFill>
                <a:latin typeface="Arial"/>
              </a:defRPr>
            </a:pPr>
            <a:r>
              <a:t>Nền huy hiệu Badge nổi bật</a:t>
            </a:r>
          </a:p>
        </p:txBody>
      </p:sp>
      <p:sp>
        <p:nvSpPr>
          <p:cNvPr id="15" name="Rounded Rectangle 14"/>
          <p:cNvSpPr/>
          <p:nvPr/>
        </p:nvSpPr>
        <p:spPr>
          <a:xfrm>
            <a:off x="9646920" y="1463040"/>
            <a:ext cx="1691640"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38360" y="1645920"/>
            <a:ext cx="1508760" cy="1828800"/>
          </a:xfrm>
          <a:prstGeom prst="rect">
            <a:avLst/>
          </a:prstGeom>
          <a:noFill/>
        </p:spPr>
        <p:txBody>
          <a:bodyPr wrap="square">
            <a:spAutoFit/>
          </a:bodyPr>
          <a:lstStyle/>
          <a:p>
            <a:pPr>
              <a:defRPr sz="900" b="1">
                <a:solidFill>
                  <a:srgbClr val="ED9040"/>
                </a:solidFill>
                <a:latin typeface="Arial"/>
              </a:defRPr>
            </a:pPr>
            <a:r>
              <a:t>TÔNG 6</a:t>
            </a:r>
          </a:p>
          <a:p>
            <a:pPr>
              <a:spcBef>
                <a:spcPts val="400"/>
              </a:spcBef>
              <a:defRPr sz="1300" b="1">
                <a:solidFill>
                  <a:srgbClr val="FFFDF9"/>
                </a:solidFill>
                <a:latin typeface="Georgia"/>
              </a:defRPr>
            </a:pPr>
            <a:r>
              <a:t>Butter</a:t>
            </a:r>
          </a:p>
          <a:p>
            <a:pPr>
              <a:spcBef>
                <a:spcPts val="300"/>
              </a:spcBef>
              <a:defRPr sz="1000">
                <a:solidFill>
                  <a:srgbClr val="FDE971"/>
                </a:solidFill>
                <a:latin typeface="Arial"/>
              </a:defRPr>
            </a:pPr>
            <a:r>
              <a:t>Vàng bánh nướng dịu</a:t>
            </a:r>
          </a:p>
          <a:p>
            <a:pPr>
              <a:spcBef>
                <a:spcPts val="400"/>
              </a:spcBef>
              <a:defRPr sz="900">
                <a:solidFill>
                  <a:srgbClr val="D1BDB7"/>
                </a:solidFill>
                <a:latin typeface="Arial"/>
              </a:defRPr>
            </a:pPr>
            <a:r>
              <a:t>Điểm nhấn chữ trên nền tối</a:t>
            </a:r>
          </a:p>
        </p:txBody>
      </p:sp>
      <p:sp>
        <p:nvSpPr>
          <p:cNvPr id="17" name="Rounded Rectangle 16"/>
          <p:cNvSpPr/>
          <p:nvPr/>
        </p:nvSpPr>
        <p:spPr>
          <a:xfrm>
            <a:off x="731520" y="3931920"/>
            <a:ext cx="10728655" cy="219456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114800"/>
            <a:ext cx="10149840" cy="1828800"/>
          </a:xfrm>
          <a:prstGeom prst="rect">
            <a:avLst/>
          </a:prstGeom>
          <a:noFill/>
        </p:spPr>
        <p:txBody>
          <a:bodyPr wrap="square">
            <a:spAutoFit/>
          </a:bodyPr>
          <a:lstStyle/>
          <a:p>
            <a:pPr>
              <a:defRPr sz="1500" b="1">
                <a:solidFill>
                  <a:srgbClr val="ED9040"/>
                </a:solidFill>
                <a:latin typeface="Georgia"/>
              </a:defRPr>
            </a:pPr>
            <a:r>
              <a:t>NGUYÊN TẮC HOẠT CẢNH GSAP 3.X ĐẠT CHUẨN 60 FPS</a:t>
            </a:r>
          </a:p>
          <a:p>
            <a:pPr>
              <a:spcBef>
                <a:spcPts val="300"/>
              </a:spcBef>
              <a:defRPr sz="1100">
                <a:solidFill>
                  <a:srgbClr val="F5E6E0"/>
                </a:solidFill>
                <a:latin typeface="Arial"/>
              </a:defRPr>
            </a:pPr>
            <a:r>
              <a:t>• Compositor-Only Transitions: 100% hoạt cảnh chỉ can thiệp transform (x, y, scale) và autoAlpha, không trigger layout recalculation.</a:t>
            </a:r>
          </a:p>
          <a:p>
            <a:pPr>
              <a:spcBef>
                <a:spcPts val="300"/>
              </a:spcBef>
              <a:defRPr sz="1100">
                <a:solidFill>
                  <a:srgbClr val="F5E6E0"/>
                </a:solidFill>
                <a:latin typeface="Arial"/>
              </a:defRPr>
            </a:pPr>
            <a:r>
              <a:t>• ScrollTrigger.batch(): Gom nhóm các thẻ sách xuất hiện đồng bộ khi cuộn trang, triệt tiêu giật lag trên thiết bị di động.</a:t>
            </a:r>
          </a:p>
          <a:p>
            <a:pPr>
              <a:spcBef>
                <a:spcPts val="300"/>
              </a:spcBef>
              <a:defRPr sz="1100">
                <a:solidFill>
                  <a:srgbClr val="F5E6E0"/>
                </a:solidFill>
                <a:latin typeface="Arial"/>
              </a:defRPr>
            </a:pPr>
            <a:r>
              <a:t>• 3D Micro-Tilt Physics: Tương tác vật lý nghiêng 3D phản hồi theo con trỏ chuột khi rê qua thẻ sách tiêu biểu.</a:t>
            </a:r>
          </a:p>
          <a:p>
            <a:pPr>
              <a:spcBef>
                <a:spcPts val="300"/>
              </a:spcBef>
              <a:defRPr sz="1100">
                <a:solidFill>
                  <a:srgbClr val="F5E6E0"/>
                </a:solidFill>
                <a:latin typeface="Arial"/>
              </a:defRPr>
            </a:pPr>
            <a:r>
              <a:t>• Accessibility (A11y): Tự động phát hiện và ngắt hoạt cảnh khi người dùng bật prefers-reduced-motion.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VẬN HÀNH &amp; KIỂM ĐỊNH</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Docker Compose 5 Containers &amp; Bộ Kịch Bản Tự Động Hóa</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11 / 12</a:t>
            </a:r>
          </a:p>
        </p:txBody>
      </p:sp>
      <p:sp>
        <p:nvSpPr>
          <p:cNvPr id="5" name="Rounded Rectangle 4"/>
          <p:cNvSpPr/>
          <p:nvPr/>
        </p:nvSpPr>
        <p:spPr>
          <a:xfrm>
            <a:off x="7315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85055" cy="1737360"/>
          </a:xfrm>
          <a:prstGeom prst="rect">
            <a:avLst/>
          </a:prstGeom>
          <a:noFill/>
        </p:spPr>
        <p:txBody>
          <a:bodyPr wrap="square">
            <a:spAutoFit/>
          </a:bodyPr>
          <a:lstStyle/>
          <a:p>
            <a:pPr>
              <a:defRPr sz="1000" b="1">
                <a:solidFill>
                  <a:srgbClr val="BD5705"/>
                </a:solidFill>
                <a:latin typeface="Arial"/>
              </a:defRPr>
            </a:pPr>
            <a:r>
              <a:t>DEVOPS / QA 01</a:t>
            </a:r>
          </a:p>
          <a:p>
            <a:pPr>
              <a:spcBef>
                <a:spcPts val="300"/>
              </a:spcBef>
              <a:spcAft>
                <a:spcPts val="600"/>
              </a:spcAft>
              <a:defRPr sz="1500" b="1">
                <a:solidFill>
                  <a:srgbClr val="FDE971"/>
                </a:solidFill>
                <a:latin typeface="Georgia"/>
              </a:defRPr>
            </a:pPr>
            <a:r>
              <a:t>Docker 5 Containers Orchestration</a:t>
            </a:r>
          </a:p>
          <a:p>
            <a:pPr>
              <a:lnSpc>
                <a:spcPct val="125000"/>
              </a:lnSpc>
              <a:defRPr sz="1100">
                <a:solidFill>
                  <a:srgbClr val="F5E6E0"/>
                </a:solidFill>
                <a:latin typeface="Arial"/>
              </a:defRPr>
            </a:pPr>
            <a:r>
              <a:t>Điều phối độc lập 5 dịch vụ thông qua docker-compose.yml: lbp_web (Django), lbp_mysql (MySQL 8), lbp_redis (Redis 7), lbp_celery_worker (xử lý nền) và lbp_celery_beat (lập lịch cron).</a:t>
            </a:r>
          </a:p>
        </p:txBody>
      </p:sp>
      <p:sp>
        <p:nvSpPr>
          <p:cNvPr id="7" name="Rounded Rectangle 6"/>
          <p:cNvSpPr/>
          <p:nvPr/>
        </p:nvSpPr>
        <p:spPr>
          <a:xfrm>
            <a:off x="6217920" y="146304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85055" cy="1737360"/>
          </a:xfrm>
          <a:prstGeom prst="rect">
            <a:avLst/>
          </a:prstGeom>
          <a:noFill/>
        </p:spPr>
        <p:txBody>
          <a:bodyPr wrap="square">
            <a:spAutoFit/>
          </a:bodyPr>
          <a:lstStyle/>
          <a:p>
            <a:pPr>
              <a:defRPr sz="1000" b="1">
                <a:solidFill>
                  <a:srgbClr val="BD5705"/>
                </a:solidFill>
                <a:latin typeface="Arial"/>
              </a:defRPr>
            </a:pPr>
            <a:r>
              <a:t>DEVOPS / QA 02</a:t>
            </a:r>
          </a:p>
          <a:p>
            <a:pPr>
              <a:spcBef>
                <a:spcPts val="300"/>
              </a:spcBef>
              <a:spcAft>
                <a:spcPts val="600"/>
              </a:spcAft>
              <a:defRPr sz="1500" b="1">
                <a:solidFill>
                  <a:srgbClr val="FDE971"/>
                </a:solidFill>
                <a:latin typeface="Georgia"/>
              </a:defRPr>
            </a:pPr>
            <a:r>
              <a:t>deep_template_audit.py</a:t>
            </a:r>
          </a:p>
          <a:p>
            <a:pPr>
              <a:lnSpc>
                <a:spcPct val="125000"/>
              </a:lnSpc>
              <a:defRPr sz="1100">
                <a:solidFill>
                  <a:srgbClr val="F5E6E0"/>
                </a:solidFill>
                <a:latin typeface="Arial"/>
              </a:defRPr>
            </a:pPr>
            <a:r>
              <a:t>Kịch bản tự động rà soát toàn bộ hơn 70 template Django, kiểm tra cú pháp tag/block, thẻ HTML chưa đóng và tính toàn vẹn của biến render.</a:t>
            </a:r>
          </a:p>
        </p:txBody>
      </p:sp>
      <p:sp>
        <p:nvSpPr>
          <p:cNvPr id="9" name="Rounded Rectangle 8"/>
          <p:cNvSpPr/>
          <p:nvPr/>
        </p:nvSpPr>
        <p:spPr>
          <a:xfrm>
            <a:off x="7315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023360"/>
            <a:ext cx="4785055" cy="1737360"/>
          </a:xfrm>
          <a:prstGeom prst="rect">
            <a:avLst/>
          </a:prstGeom>
          <a:noFill/>
        </p:spPr>
        <p:txBody>
          <a:bodyPr wrap="square">
            <a:spAutoFit/>
          </a:bodyPr>
          <a:lstStyle/>
          <a:p>
            <a:pPr>
              <a:defRPr sz="1000" b="1">
                <a:solidFill>
                  <a:srgbClr val="BD5705"/>
                </a:solidFill>
                <a:latin typeface="Arial"/>
              </a:defRPr>
            </a:pPr>
            <a:r>
              <a:t>DEVOPS / QA 03</a:t>
            </a:r>
          </a:p>
          <a:p>
            <a:pPr>
              <a:spcBef>
                <a:spcPts val="300"/>
              </a:spcBef>
              <a:spcAft>
                <a:spcPts val="600"/>
              </a:spcAft>
              <a:defRPr sz="1500" b="1">
                <a:solidFill>
                  <a:srgbClr val="FDE971"/>
                </a:solidFill>
                <a:latin typeface="Georgia"/>
              </a:defRPr>
            </a:pPr>
            <a:r>
              <a:t>test_race_condition.py</a:t>
            </a:r>
          </a:p>
          <a:p>
            <a:pPr>
              <a:lnSpc>
                <a:spcPct val="125000"/>
              </a:lnSpc>
              <a:defRPr sz="1100">
                <a:solidFill>
                  <a:srgbClr val="F5E6E0"/>
                </a:solidFill>
                <a:latin typeface="Arial"/>
              </a:defRPr>
            </a:pPr>
            <a:r>
              <a:t>Mô phỏng hàng loạt request mượn cùng 1 cuốn sách tại cùng thời điểm mili-giây, minh chứng tính an toàn tuyệt đối của khóa bi quan select_for_update.</a:t>
            </a:r>
          </a:p>
        </p:txBody>
      </p:sp>
      <p:sp>
        <p:nvSpPr>
          <p:cNvPr id="11" name="Rounded Rectangle 10"/>
          <p:cNvSpPr/>
          <p:nvPr/>
        </p:nvSpPr>
        <p:spPr>
          <a:xfrm>
            <a:off x="6217920" y="3840480"/>
            <a:ext cx="5242255" cy="210312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23360"/>
            <a:ext cx="4785055" cy="1737360"/>
          </a:xfrm>
          <a:prstGeom prst="rect">
            <a:avLst/>
          </a:prstGeom>
          <a:noFill/>
        </p:spPr>
        <p:txBody>
          <a:bodyPr wrap="square">
            <a:spAutoFit/>
          </a:bodyPr>
          <a:lstStyle/>
          <a:p>
            <a:pPr>
              <a:defRPr sz="1000" b="1">
                <a:solidFill>
                  <a:srgbClr val="BD5705"/>
                </a:solidFill>
                <a:latin typeface="Arial"/>
              </a:defRPr>
            </a:pPr>
            <a:r>
              <a:t>DEVOPS / QA 04</a:t>
            </a:r>
          </a:p>
          <a:p>
            <a:pPr>
              <a:spcBef>
                <a:spcPts val="300"/>
              </a:spcBef>
              <a:spcAft>
                <a:spcPts val="600"/>
              </a:spcAft>
              <a:defRPr sz="1500" b="1">
                <a:solidFill>
                  <a:srgbClr val="FDE971"/>
                </a:solidFill>
                <a:latin typeface="Georgia"/>
              </a:defRPr>
            </a:pPr>
            <a:r>
              <a:t>taste_preflight_check.py &amp; CI/CD</a:t>
            </a:r>
          </a:p>
          <a:p>
            <a:pPr>
              <a:lnSpc>
                <a:spcPct val="125000"/>
              </a:lnSpc>
              <a:defRPr sz="1100">
                <a:solidFill>
                  <a:srgbClr val="F5E6E0"/>
                </a:solidFill>
                <a:latin typeface="Arial"/>
              </a:defRPr>
            </a:pPr>
            <a:r>
              <a:t>Kiểm định tuân thủ Design Tokens (chặn triệt để màu xám thuần và gradient generic). Tích hợp GitHub Actions CI Pipeline tự động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0706"/>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a:spAutoFit/>
          </a:bodyPr>
          <a:lstStyle/>
          <a:p>
            <a:pPr>
              <a:defRPr sz="1000" b="1">
                <a:solidFill>
                  <a:srgbClr val="ED9040"/>
                </a:solidFill>
                <a:latin typeface="Arial"/>
              </a:defRPr>
            </a:pPr>
            <a:r>
              <a:t>TỔNG KẾT &amp; ĐỊNH HƯỚNG</a:t>
            </a:r>
          </a:p>
        </p:txBody>
      </p:sp>
      <p:sp>
        <p:nvSpPr>
          <p:cNvPr id="3" name="TextBox 2"/>
          <p:cNvSpPr txBox="1"/>
          <p:nvPr/>
        </p:nvSpPr>
        <p:spPr>
          <a:xfrm>
            <a:off x="731520" y="685800"/>
            <a:ext cx="9601200" cy="594360"/>
          </a:xfrm>
          <a:prstGeom prst="rect">
            <a:avLst/>
          </a:prstGeom>
          <a:noFill/>
        </p:spPr>
        <p:txBody>
          <a:bodyPr wrap="square">
            <a:spAutoFit/>
          </a:bodyPr>
          <a:lstStyle/>
          <a:p>
            <a:pPr>
              <a:defRPr sz="2200" b="1">
                <a:solidFill>
                  <a:srgbClr val="FFFDF9"/>
                </a:solidFill>
                <a:latin typeface="Georgia"/>
              </a:defRPr>
            </a:pPr>
            <a:r>
              <a:t>Giá Trị Cốt Lõi &amp; Lộ Trình Phát Triển Tương Lai</a:t>
            </a:r>
          </a:p>
        </p:txBody>
      </p:sp>
      <p:sp>
        <p:nvSpPr>
          <p:cNvPr id="4" name="TextBox 3"/>
          <p:cNvSpPr txBox="1"/>
          <p:nvPr/>
        </p:nvSpPr>
        <p:spPr>
          <a:xfrm>
            <a:off x="10789920" y="502920"/>
            <a:ext cx="731520" cy="320040"/>
          </a:xfrm>
          <a:prstGeom prst="rect">
            <a:avLst/>
          </a:prstGeom>
          <a:noFill/>
        </p:spPr>
        <p:txBody>
          <a:bodyPr wrap="none">
            <a:spAutoFit/>
          </a:bodyPr>
          <a:lstStyle/>
          <a:p>
            <a:pPr algn="r">
              <a:defRPr sz="1100">
                <a:solidFill>
                  <a:srgbClr val="D1BDB7"/>
                </a:solidFill>
                <a:latin typeface="Arial"/>
              </a:defRPr>
            </a:pPr>
            <a:r>
              <a:t>12 / 12</a:t>
            </a:r>
          </a:p>
        </p:txBody>
      </p:sp>
      <p:sp>
        <p:nvSpPr>
          <p:cNvPr id="5" name="Rounded Rectangle 4"/>
          <p:cNvSpPr/>
          <p:nvPr/>
        </p:nvSpPr>
        <p:spPr>
          <a:xfrm>
            <a:off x="731520" y="1463040"/>
            <a:ext cx="10728655" cy="4663440"/>
          </a:xfrm>
          <a:prstGeom prst="roundRect">
            <a:avLst/>
          </a:prstGeom>
          <a:solidFill>
            <a:srgbClr val="240C0B"/>
          </a:solidFill>
          <a:ln w="15240">
            <a:solidFill>
              <a:srgbClr val="4E0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9997135" cy="4114800"/>
          </a:xfrm>
          <a:prstGeom prst="rect">
            <a:avLst/>
          </a:prstGeom>
          <a:noFill/>
        </p:spPr>
        <p:txBody>
          <a:bodyPr wrap="square">
            <a:spAutoFit/>
          </a:bodyPr>
          <a:lstStyle/>
          <a:p>
            <a:pPr>
              <a:defRPr sz="1800" b="1">
                <a:solidFill>
                  <a:srgbClr val="ED9040"/>
                </a:solidFill>
                <a:latin typeface="Georgia"/>
              </a:defRPr>
            </a:pPr>
            <a:r>
              <a:t>GIÁ TRỊ NỀN TẢNG MANG LẠI</a:t>
            </a:r>
          </a:p>
          <a:p>
            <a:pPr>
              <a:lnSpc>
                <a:spcPct val="125000"/>
              </a:lnSpc>
              <a:spcBef>
                <a:spcPts val="1000"/>
              </a:spcBef>
              <a:defRPr sz="1300">
                <a:solidFill>
                  <a:srgbClr val="F5E6E0"/>
                </a:solidFill>
                <a:latin typeface="Arial"/>
              </a:defRPr>
            </a:pPr>
            <a:r>
              <a:t>• Kết Nối Tri Thức &amp; Cộng Đồng: Mang thư viện chuẩn mực đến những khu vực hạn chế tiếp cận sách giấy, xóa nhòa khoảng cách tiếp cận văn hóa đọc.</a:t>
            </a:r>
          </a:p>
          <a:p>
            <a:pPr>
              <a:lnSpc>
                <a:spcPct val="125000"/>
              </a:lnSpc>
              <a:spcBef>
                <a:spcPts val="1000"/>
              </a:spcBef>
              <a:defRPr sz="1300">
                <a:solidFill>
                  <a:srgbClr val="F5E6E0"/>
                </a:solidFill>
                <a:latin typeface="Arial"/>
              </a:defRPr>
            </a:pPr>
            <a:r>
              <a:t>• Kiến Trúc Modular Monolith Chuẩn Mực: Phân tách rõ ràng 7 miền nghiệp vụ, khả năng chịu tải cao, sẵn sàng mở rộng module mà không vỡ hệ thống.</a:t>
            </a:r>
          </a:p>
          <a:p>
            <a:pPr>
              <a:lnSpc>
                <a:spcPct val="125000"/>
              </a:lnSpc>
              <a:spcBef>
                <a:spcPts val="1000"/>
              </a:spcBef>
              <a:defRPr sz="1300">
                <a:solidFill>
                  <a:srgbClr val="F5E6E0"/>
                </a:solidFill>
                <a:latin typeface="Arial"/>
              </a:defRPr>
            </a:pPr>
            <a:r>
              <a:t>• Tự Động Hóa Vận Hành Toàn Diện: Giảm tải 80% công việc thủ công của thủ thư nhờ Celery Beat quét quá hạn, Gemini AI trích xuất sách và khóa bi quan CSDL.</a:t>
            </a:r>
          </a:p>
          <a:p>
            <a:pPr>
              <a:lnSpc>
                <a:spcPct val="125000"/>
              </a:lnSpc>
              <a:spcBef>
                <a:spcPts val="1000"/>
              </a:spcBef>
              <a:defRPr sz="1300">
                <a:solidFill>
                  <a:srgbClr val="F5E6E0"/>
                </a:solidFill>
                <a:latin typeface="Arial"/>
              </a:defRPr>
            </a:pPr>
            <a:r>
              <a:t>• Định Hướng Phát Triển Tương Lai: Phát triển ứng dụng di động (Flutter / React Native), tích hợp bản đồ số Live-Tracking vị trí xe buýt theo thời gian thực và mở rộng cổng thanh toán phạt online (VNPay / MoMo).</a:t>
            </a:r>
          </a:p>
          <a:p>
            <a:pPr algn="ctr">
              <a:spcBef>
                <a:spcPts val="2200"/>
              </a:spcBef>
              <a:defRPr sz="1600" b="1">
                <a:solidFill>
                  <a:srgbClr val="FFC270"/>
                </a:solidFill>
                <a:latin typeface="Georgia"/>
              </a:defRPr>
            </a:pPr>
            <a:r>
              <a:t>XIN TRÂN TRỌNG CẢM ƠN — PHIÊN HỎI ĐÁP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